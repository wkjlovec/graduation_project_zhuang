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34747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3291840"/>
            <a:ext cx="12191695" cy="36576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毕业设计答辩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基于微服务架构的高校论坛系统</a:t>
            </a:r>
            <a:br/>
            <a:r>
              <a:t>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—— PC 端 + 移动端双端协同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023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答辩人：XXX　　学号：XXXXXXXXXX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434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指导教师：XXX 副教授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846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专业：软件工程　　学院：计算机与信息学院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7607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F6B7A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目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研究背景与意义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行业痛点 · 现有方案不足 · 课题创新点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需求分析与目标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功能需求 · 非功能需求 · 技术路线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系统设计与架构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整体架构 · 核心模块 · 技术选型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实现与关键技术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核心功能 · 难点攻克 · 开发工具链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1772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系统测试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测试策略 · 回归测试 · 性能基准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2104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总结与展望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核心成果 · 不足 · 未来方向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01 研究背景与意义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Research Background &amp; Significance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30352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" cy="23774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📋 行业与社会痛点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即时通讯中课程答疑几小时后即被新消息覆盖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高校论坛多为单体架构，并发瓶颈、扩展困难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多数仅PC端，移动端用户占比已达99.6%(CNNIC)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功能验证依赖手工操作，交付质量缺少量化判据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30352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54864" cy="237744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⚠️ 现有方案的不足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单体架构 → 前后端耦合、局部修改需全局重部署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仅PC端 → 移动端体验缺失(如水木BBS、未名BBS)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权限管理与内容审核机制不完善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缺乏自动化回归测试和性能测试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源码冗余度高，维护成本持续增加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1097280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931920"/>
            <a:ext cx="54864" cy="237744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💡 课题创新点与价值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微服务拆分（5个业务服务+网关） → 松耦合、可独立部署与扩展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PC + 移动双端协同（Vue 3 + Element Plus / Vant） → 统一API、一致体验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JWT + Redis会话 + 网关统一鉴权 → 完整安全闭环（登录/刷新/登出/锁定）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Redis缓存层 → 帖子列表缓存命中后响应提升 80%+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⑤ 可复现测试链路 → 功能测试覆盖11场景22接口，通过率100%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02 需求分析与目标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Requirements Analysis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🔧 功能性需求（8个模块）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用户认证：注册/登录/令牌刷新/登出/失败锁定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帖子管理：分区浏览/发帖/编辑/删除/详情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评论互动：一级评论/二级回复/编辑/删除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点赞：去重点赞(联合唯一约束)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通知服务：系统公告/个人通知/标记已读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搜索/媒体/网关访问控制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📊 非功能性需求（5个维度）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性能：缓存命中后毫秒级响应, 未命中≤500ms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安全：JWT双令牌(Access 24h/Refresh 7d)+失败锁定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可扩展：Nacos注册发现, 新模块即插即用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可维护：Docker Compose编排+一键启停+自动回归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兼容：PC(Element Plus)+移动(Vant), 同API网关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11247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" cy="21031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🎯 研究目标与技术路线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目标：设计并实现一个面向高校场景的微服务论坛系统，围绕架构解耦、跨平台适配、安全认证、质量保障四个层面展开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技术路线：需求调研 → 微服务拆分设计 → 后端6服务开发 → 双端前端开发 → 安全与缓存加固 → 运维脚本与自动化测试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System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011680" y="1188720"/>
            <a:ext cx="3200400" cy="960120"/>
          </a:xfrm>
          <a:prstGeom prst="roundRect">
            <a:avLst>
              <a:gd name="adj" fmla="val 3000"/>
            </a:avLst>
          </a:prstGeom>
          <a:solidFill>
            <a:srgbClr val="E8F0FE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A56DB"/>
                </a:solidFill>
                <a:latin typeface="微软雅黑"/>
              </a:defRPr>
            </a:pPr>
            <a:r>
              <a:t>客户端层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173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PC端 (Vue3 + Element Plus)　｜　移动端 (Vue3 + Vant)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331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FEF3E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B8C00"/>
                </a:solidFill>
                <a:latin typeface="微软雅黑"/>
              </a:defRPr>
            </a:pPr>
            <a:r>
              <a:t>API网关层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560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Spring Cloud Gateway — 统一路由 · JWT验证 · CORS · Redis会话校验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474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1905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4A853"/>
                </a:solidFill>
                <a:latin typeface="微软雅黑"/>
              </a:defRPr>
            </a:pPr>
            <a:r>
              <a:t>业务服务层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703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auth-user　｜　forum　｜　notification　｜　media　｜　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617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00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9C27B0"/>
                </a:solidFill>
                <a:latin typeface="微软雅黑"/>
              </a:defRPr>
            </a:pPr>
            <a:r>
              <a:t>注册中心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846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Nacos — 服务注册与发现 · 配置管理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5760720"/>
            <a:ext cx="7772400" cy="960120"/>
          </a:xfrm>
          <a:prstGeom prst="roundRect">
            <a:avLst>
              <a:gd name="adj" fmla="val 3000"/>
            </a:avLst>
          </a:prstGeom>
          <a:solidFill>
            <a:srgbClr val="E3F2FD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943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A56DB"/>
                </a:solidFill>
                <a:latin typeface="微软雅黑"/>
              </a:defRPr>
            </a:pPr>
            <a:r>
              <a:t>数据层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989320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MySQL 8.4（持久化）　｜　Redis 7.4（缓存 + 会话）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760720" y="214884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wn Arrow 21"/>
          <p:cNvSpPr/>
          <p:nvPr/>
        </p:nvSpPr>
        <p:spPr>
          <a:xfrm>
            <a:off x="5760720" y="324612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5760720" y="438912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5760720" y="5532120"/>
            <a:ext cx="32004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核心模块设计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Core Module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API网关 (gateway-service)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JWT令牌验证+Redis会话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全局CORS跨域配置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路由转发(lb://服务名)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28016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06240" y="128016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认证用户 (auth-user-service)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注册/登录/刷新/登出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双令牌(Access+Refresh)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登录失败锁定机制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28016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128016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论坛核心 (forum-service)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帖子/评论/点赞CRUD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97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分区管理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Redis缓存(@Cacheable)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93192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393192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005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通知服务 (notification-service)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系统公告/个人通知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已读标记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760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首页通知聚合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6240" y="393192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06240" y="393192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005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媒体推荐 (media-service)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音乐/书籍推荐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349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首页内容聚合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5760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类型筛选(music/book)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931920"/>
            <a:ext cx="365760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931920"/>
            <a:ext cx="3657600" cy="502920"/>
          </a:xfrm>
          <a:prstGeom prst="roundRect">
            <a:avLst>
              <a:gd name="adj" fmla="val 4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80" y="4005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搜索服务 (search-service)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端口: 8085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帖子关键词搜索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349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OpenFeign服务间调用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760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C3C"/>
                </a:solidFill>
                <a:latin typeface="微软雅黑"/>
              </a:defRPr>
            </a:pPr>
            <a:r>
              <a:t>▸ 分区+分页联合查询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数据库设计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3657600" cy="457200"/>
          </a:xfrm>
          <a:prstGeom prst="roundRect">
            <a:avLst>
              <a:gd name="adj" fmla="val 3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用户表 (user_account)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783080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013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01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801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主键, 自增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130552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48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username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VARCHAR(50)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1488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唯一, 登录名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2478024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96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password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4963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VARCHAR(255)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496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BCrypt加密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2825496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843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nickname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843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VARCHAR(50)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84378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昵称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172968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1912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created_at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31912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DATETIME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191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创建时间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3520440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5387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updated_at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35387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DATETIME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更新时间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0" y="1280160"/>
            <a:ext cx="3657600" cy="457200"/>
          </a:xfrm>
          <a:prstGeom prst="roundRect">
            <a:avLst>
              <a:gd name="adj" fmla="val 3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帖子表 (forum_post)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1783080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0" y="18013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1801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1801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主键, 自增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2130552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2148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title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VARCHAR(200)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21488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帖子标题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0" y="2478024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2496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content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24963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TEXT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496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帖子内容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2825496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843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section_id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2843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284378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外键→forum_section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3172968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31912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author_id/name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0" y="31912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BIGINT/VARCHAR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3191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作者信息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14800" y="3520440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35387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like_count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35387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INT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点赞计数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55279" y="1280160"/>
            <a:ext cx="3657600" cy="457200"/>
          </a:xfrm>
          <a:prstGeom prst="roundRect">
            <a:avLst>
              <a:gd name="adj" fmla="val 3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19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评论表 (post_comment)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55279" y="1783080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19" y="18013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79" y="1801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19" y="18013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主键, 自增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955279" y="2130552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46719" y="2148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content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79" y="2148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TEXT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2719" y="21488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评论内容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79" y="2478024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19" y="2496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post_id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79" y="24963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32719" y="24963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外键→forum_post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55279" y="2825496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46719" y="2843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parent_id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26879" y="2843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32719" y="284378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父评论(二级)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955279" y="3172968"/>
            <a:ext cx="3657600" cy="32918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19" y="319125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author_id/name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79" y="31912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BIGINT/VARCHAR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32719" y="3191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评论作者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55279" y="3520440"/>
            <a:ext cx="3657600" cy="329184"/>
          </a:xfrm>
          <a:prstGeom prst="roundRect">
            <a:avLst>
              <a:gd name="adj" fmla="val 0"/>
            </a:avLst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46719" y="35387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56DB"/>
                </a:solidFill>
                <a:latin typeface="微软雅黑"/>
              </a:defRPr>
            </a:pPr>
            <a:r>
              <a:t>created/updated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26879" y="35387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F6B7A"/>
                </a:solidFill>
                <a:latin typeface="微软雅黑"/>
              </a:defRPr>
            </a:pPr>
            <a:r>
              <a:t>DATETIME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32719" y="3538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02C3C"/>
                </a:solidFill>
                <a:latin typeface="微软雅黑"/>
              </a:defRPr>
            </a:pPr>
            <a:r>
              <a:t>时间戳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4320" y="4023360"/>
            <a:ext cx="347472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74320" y="4023360"/>
            <a:ext cx="54864" cy="2286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160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📦 其他数据表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45262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forum_section — 论坛分区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id, name, description, sort_order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post_like — 点赞记录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id, post_id, user_id (唯一约束)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notification_message — 通知消息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id, title, content, type, target_user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is_read, created_at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114800" y="402336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114800" y="4023360"/>
            <a:ext cx="54864" cy="2286000"/>
          </a:xfrm>
          <a:prstGeom prst="roundRect">
            <a:avLst>
              <a:gd name="adj" fmla="val 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89120" y="4160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微软雅黑"/>
              </a:defRPr>
            </a:pPr>
            <a:r>
              <a:t>🔗 Redis 数据结构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120" y="4526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auth:session:{sessionId}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用户会话信息(JWT签发校验)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auth:login:fail:{username}:{ip}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登录失败计数(防暴力破解)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forum:post:list::*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帖子列表缓存(TTL=2min)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forum:post:detail::*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帖子详情缓存(TTL=5min)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046720" y="4023360"/>
            <a:ext cx="36576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046720" y="4023360"/>
            <a:ext cx="54864" cy="22860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21040" y="4160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🔒 安全机制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21040" y="4526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密码存储: BCrypt 单向散列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令牌: JWT Access + Refresh 双令牌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会话: Redis 集中管理, 登出即失效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网关: 统一 JWT 校验 + 路径白名单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锁定: 登录失败N次后短时锁定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权限: 帖子仅作者可编辑/删除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 系统设计与架构 — 关键技术选型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Technology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4300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技术领域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本项目选型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对比方案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选型理由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后端框架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Spring Boot 3.2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Django / Express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Java生态成熟, Spring Cloud微服务生态完善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微服务治理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Spring Cloud Alibaba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Dubbo / gRPC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Nacos集成注册+配置, 与Gateway无缝衔接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API网关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Spring Cloud Gateway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Nginx / Kong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原生支持服务发现, 与JWT Filter深度集成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前端框架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Vue 3 + TypeScript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React / Angular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组合式API, 生态轻量, 双端复用路由设计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PC端UI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Element Plus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Ant Design Vue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组件丰富, 文档完善, 社区活跃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移动端UI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Vant 4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uni-app / Ionic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Vue3原生适配, 轻量高性能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数据库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MySQL 8.4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PostgreSQL / MongoDB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事务支持完善, 运维成本低, JPA兼容性好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缓存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Redis 7.4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Memcached / Caffeine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支持多数据结构, 兼顾会话管理与数据缓存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认证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JWT + Spring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OAuth2 / Session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无状态令牌+Redis会话=安全与性能兼顾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服务注册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Nacos 2.3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Eureka / Consul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支持注册发现+配置管理, 阿里生态维护活跃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实现与关键技术 — 认证与网关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Authentication &amp; Gateway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66928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5029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🔐 JWT 双令牌认证流程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1. 用户提交 username + password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2. auth-service 验证 → 签发 Access Token (短期)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                 + Refresh Token (长期)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3. Redis 写入 session: auth:session:{sid}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4. 客户端携带 Bearer Token 访问受保护接口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5. Gateway JwtRelayFilter 校验: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JWT签名有效性 + 类型(access)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Redis session存在性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提取 userId/username → X-User-Id/X-Username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6. 下游服务通过请求头获取用户身份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Refresh 流程: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Access过期 → 前端401拦截器自动调用 /refresh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验证Refresh Token → 签发新Access Token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并发请求通过 pending queue 避免重复刷新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Logout 流程: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调用 /logout → Redis 删除 session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网关拦截后续请求(session不存在) → 401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4864" cy="22860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🌐 网关路由配置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/api/auth/**   → auth-user-service (StripPrefix=1)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/api/users/**  → auth-user-service (StripPrefix=1)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/api/forum/**  → forum-service (StripPrefix=2)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/api/notifications/** → notification-service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/api/media/**  → media-service (StripPrefix=1)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/api/search/** → search-service (StripPrefix=1)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48640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3840480"/>
            <a:ext cx="54864" cy="2468880"/>
          </a:xfrm>
          <a:prstGeom prst="roundRect">
            <a:avLst>
              <a:gd name="adj" fmla="val 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微软雅黑"/>
              </a:defRPr>
            </a:pPr>
            <a:r>
              <a:t>🛡️ 安全策略伪代码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JwtRelayFilter(request):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path in PUBLIC_PATHS: forward()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token = extractBearer(request)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claims = jwt.verify(token, SECRET)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assert claims.type == 'access'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session = redis.get('auth:session:' + claims.sid)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assert session != null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request.addHeader('X-User-Id', claims.uid)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forward(request)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实现与关键技术 — 论坛核心与缓存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Forum Core &amp; Cache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6692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📝 论坛核心功能伪代码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发帖流程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createPost(request, user):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validate(request.title, request.content)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section = sectionRepo.findById(request.sectionId)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 = new ForumPost(title, content, section, 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postRepo.save(post)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cacheEvict('forum:post:list')  // 清除列表缓存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post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二级评论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addComment(postId, request, user):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 = postRepo.findById(postId)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comment = new PostComment(content, post, 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request.parentId: comment.parent = parentComment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commentRepo.save(comment)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4864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⚡ Redis 缓存策略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缓存机制: Spring Cache + RedisCacheManager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@Cacheable('forum:post:list')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listPosts(page, size, sectionId):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// 首次请求: 查DB → 写Redis (TTL=2min)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// 后续请求: 直接从Redis读取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postRepo.findAll(pageable)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@CacheEvict('forum:post:list', allEntries=true)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createPost(...)  // 写操作清除缓存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序列化: GenericJackson2Json (支持泛型反序列化)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TTL 配置: list=2min, detail=5min, default=10min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297680"/>
            <a:ext cx="566928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4297680"/>
            <a:ext cx="54864" cy="201168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💡 难点与解决方案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0060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并发点赞去重 → 数据库唯一约束(post_id+user_id)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+ 业务层异常捕获返回友好提示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双端认证一致性 → 前端Axios 401拦截器 + pending queue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单次刷新 + 并发请求排队重试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缓存一致性 → 写操作主动 @CacheEvict + 短TTL兜底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服务间调用 → OpenFeign声明式客户端(search→forum)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29768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54864" cy="201168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434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🔧 开发工具链（技术栈）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00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语言: Java 17 / TypeScript 5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构建: Maven 3.9 / Vite 5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容器: Docker Compose (MySQL+Redis+Nacos)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IDE: IntelliJ IDEA / VS Code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版本控制: Git + GitHub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测试: Python自动化回归 + 缓存基准脚本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 实现与关键技术 — 双端前端实现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Dual-End Frontend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66928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5029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🖥️ PC端 (Vue3 + Element Plus)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路由: 6个页面 (登录/帖子列表/详情/发帖/个人/通知)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帖子列表页: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分区筛选下拉 + 关键词搜索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分页控制 (5/10/20条切换)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侧边栏: 通知摘要 + 音乐/书籍推荐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帖子详情页: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帖子内容 + 点赞按钮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评论列表 (支持二级回复)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认证流程: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顶部导航栏显示用户名/登录按钮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localStorage 持久化 (forum_pc_*)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401自动刷新 + 登出状态同步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状态管理: Pinia (仅auth store, 其余为组件状态)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4864" cy="5029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📱 移动端 (Vue3 + Vant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路由: 相同6个页面, 适配移动端布局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交互差异: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NavBar导航替代顶部菜单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Cell组件展示帖子列表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底部区域评论输入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个人页集成登出 + 通知入口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统一API层: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相同的 api/ 模块 (auth/forum/notification/media)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相同的 axios 实例 + 拦截器逻辑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不同的 localStorage 前缀 (forum_mobile_*)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→ 双端可同域运行不冲突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共通设计: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加载态 / 空状态 / 错误重试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公共浏览无需登录 (列表/详情)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· 写操作路由守卫 (无token → /login)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05 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System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3035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7432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🧪 功能测试 (11场景 · 22接口)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1. 获取分区列表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2. 注册并登录两个用户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3. 发帖→评论→搜索 全链路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4. 通知首页与媒体首页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5. 个人通知与标记已读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6. 无Token写操作拦截 (code=4010)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7. 无权限操作拦截 (code=4031)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8. 并发重复点赞 ([0,4091])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9. 登出后会话立即失效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10. 令牌刷新流程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✅ 11. 令牌过期拦截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全部22个API接口覆盖, 通过率100%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280160"/>
          <a:ext cx="57607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测试指标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测试结果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帖子列表冷请求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~22-31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首次请求(无缓存)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帖子列表热请求均值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~4-5 ms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后续请求(Redis缓存)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热请求 P95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~5-6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95%请求在此延迟内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缓存提升比例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81-85%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相对冷请求提升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功能测试通过率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11场景·22接口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并发负载测试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10/50/100用户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验证承载能力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97680"/>
            <a:ext cx="1133856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4297680"/>
            <a:ext cx="54864" cy="20116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📋 测试策略总结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功能测试: run_system_regression.py → 11场景全链路黑盒测试, 覆盖22个API接口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缓存基准: benchmark_forum_cache.py → 冷/热请求对比, P95延迟与提升幅度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并发负载: load_test_concurrent.py → 10/50/100并发, 统计QPS/P95/成功率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可复现性: 一键执行generate-test-reports.sh, 报告自动生成Markdown落盘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06 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Summary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4864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92608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🏆 核心研究成果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完成了基于微服务架构的论坛系统设计与实现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6个微服务独立部署, 职责清晰, 松耦合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网关统一接入, Nacos注册发现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实现了PC+移动双端协同的前端系统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统一API设计, 一致的认证与交互体验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Vue3 + Element Plus / Vant 技术栈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建立了可复现的工程验证体系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自动化回归+缓存基准+一键启停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· 测试通过率100%, 缓存提升80%+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4864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54864" cy="292608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⚠️ 存在的问题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搜索服务基于内存遍历+contains匹配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帖子增长后效率下降, 不支持分词和相关度排序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日志采集与监控机制尚未建立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仅Spring Boot默认控制台日志, 缺乏统一收集平台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部署架构未在云环境下生产级验证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全部测试在本地单机完成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安全测试和单元测试覆盖度有提升空间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48056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4480560"/>
            <a:ext cx="54864" cy="18288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177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🚀 未来优化方向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引入 Elasticsearch 全文搜索 → 倒排索引+分词分析器, 提升检索精度和速度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ELK日志采集栈 + 链路追踪 → 实现分布式系统可观测性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Kubernetes集群部署 + CDN → 弹性伸缩、滚动更新、静态资源加速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OWASP ZAP安全扫描 + JUnit单元测试 → 完善质量保障体系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感谢各位老师的指导与聆听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5FD"/>
                </a:solidFill>
                <a:latin typeface="微软雅黑"/>
              </a:defRPr>
            </a:pPr>
            <a:r>
              <a:t>恳请各位老师批评指正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27432"/>
          </a:xfrm>
          <a:prstGeom prst="rect">
            <a:avLst/>
          </a:prstGeom>
          <a:solidFill>
            <a:srgbClr val="BBD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4846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D5FD"/>
                </a:solidFill>
                <a:latin typeface="微软雅黑"/>
              </a:defRPr>
            </a:pPr>
            <a:r>
              <a:t>答辩人：XXX　　指导教师：XXX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303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