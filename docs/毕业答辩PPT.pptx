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347472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3291840"/>
            <a:ext cx="12191695" cy="365760"/>
          </a:xfrm>
          <a:prstGeom prst="roundRect">
            <a:avLst>
              <a:gd name="adj" fmla="val 0"/>
            </a:avLst>
          </a:prstGeom>
          <a:solidFill>
            <a:srgbClr val="134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5486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BD5FD"/>
                </a:solidFill>
                <a:latin typeface="微软雅黑"/>
              </a:defRPr>
            </a:pPr>
            <a:r>
              <a:t>毕业设计答辩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972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基于微服务架构的高校论坛系统</a:t>
            </a:r>
            <a:br/>
            <a:r>
              <a:t>设计与实现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377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BD5FD"/>
                </a:solidFill>
                <a:latin typeface="微软雅黑"/>
              </a:defRPr>
            </a:pPr>
            <a:r>
              <a:t>—— PC 端 + 移动端双端协同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926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9BBEE"/>
                </a:solidFill>
                <a:latin typeface="微软雅黑"/>
              </a:defRPr>
            </a:pPr>
            <a:r>
              <a:t>本课题旨在采用 Spring Cloud 微服务 + Vue 3 双端技术，构建面向高校的论坛系统，解决传统单体论坛架构耦合、缺乏移动适配和测试不可复现的问题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39319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F6B7A"/>
                </a:solidFill>
                <a:latin typeface="微软雅黑"/>
              </a:defRPr>
            </a:pPr>
            <a:r>
              <a:t>答辩人：XXX　　学号：XXXXXXXXXX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43434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F6B7A"/>
                </a:solidFill>
                <a:latin typeface="微软雅黑"/>
              </a:defRPr>
            </a:pPr>
            <a:r>
              <a:t>指导教师：XXX 副教授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47548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F6B7A"/>
                </a:solidFill>
                <a:latin typeface="微软雅黑"/>
              </a:defRPr>
            </a:pPr>
            <a:r>
              <a:t>专业：软件工程　　学院：计算机与信息学院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57607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F6B7A"/>
                </a:solidFill>
                <a:latin typeface="微软雅黑"/>
              </a:defRPr>
            </a:pPr>
            <a:r>
              <a:t>二〇二六年五月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01 研究背景与意义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D5FD"/>
                </a:solidFill>
                <a:latin typeface="微软雅黑"/>
              </a:defRPr>
            </a:pPr>
            <a:r>
              <a:t>30秒 · 痛点 → 不足 → 创新点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2/10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188720"/>
            <a:ext cx="365760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188720"/>
            <a:ext cx="54864" cy="228600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6DB"/>
                </a:solidFill>
                <a:latin typeface="微软雅黑"/>
              </a:defRPr>
            </a:pPr>
            <a:r>
              <a:t>📋 高校论坛痛点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9164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即时通讯→信息沉没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单体架构→并发瓶颈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仅PC端→99.6%移动用户缺失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手工测试→质量不可控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1188720"/>
            <a:ext cx="365760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06240" y="1188720"/>
            <a:ext cx="54864" cy="2286000"/>
          </a:xfrm>
          <a:prstGeom prst="roundRect">
            <a:avLst>
              <a:gd name="adj" fmla="val 0"/>
            </a:avLst>
          </a:prstGeom>
          <a:solidFill>
            <a:srgbClr val="FB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1325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B8C00"/>
                </a:solidFill>
                <a:latin typeface="微软雅黑"/>
              </a:defRPr>
            </a:pPr>
            <a:r>
              <a:t>⚠️ 现有方案不足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69164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前后端耦合→全局重部署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水木BBS/未名BBS→技术老化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缺少自动化测试体系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微服务+论坛的完整实践较少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188720"/>
            <a:ext cx="384048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46720" y="1188720"/>
            <a:ext cx="54864" cy="2286000"/>
          </a:xfrm>
          <a:prstGeom prst="roundRect">
            <a:avLst>
              <a:gd name="adj" fmla="val 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32588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A853"/>
                </a:solidFill>
                <a:latin typeface="微软雅黑"/>
              </a:defRPr>
            </a:pPr>
            <a:r>
              <a:t>📚 研究定位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1691640"/>
            <a:ext cx="3383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Spring Cloud体系已成熟[6]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JWT短生命周期缩小攻击面[7]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高校微服务实践案例[8][9]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本文：完整工程闭环+双端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3749039"/>
            <a:ext cx="11521440" cy="2377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65760" y="3749039"/>
            <a:ext cx="54864" cy="237744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86199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6DB"/>
                </a:solidFill>
                <a:latin typeface="微软雅黑"/>
              </a:defRPr>
            </a:pPr>
            <a:r>
              <a:t>💡 课题五大创新点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251959"/>
            <a:ext cx="11064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① 微服务拆分（5业务服务+网关）→ 松耦合、独立部署　　② PC+移动双端（Vue3 + Element Plus/Vant）→ 统一API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③ JWT+Redis会话+网关鉴权 → 登录/刷新/登出/锁定闭环　　④ Redis缓存 → 帖子列表响应提升80%+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⑤ Python自动化测试 → 11场景22接口100%通过 + 缓存基准 + 并发负载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0" y="6400800"/>
            <a:ext cx="12191695" cy="457200"/>
          </a:xfrm>
          <a:prstGeom prst="roundRect">
            <a:avLst>
              <a:gd name="adj" fmla="val 0"/>
            </a:avLst>
          </a:prstGeom>
          <a:solidFill>
            <a:srgbClr val="134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46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BBD5FD"/>
                </a:solidFill>
                <a:latin typeface="微软雅黑"/>
              </a:defRPr>
            </a:pPr>
            <a:r>
              <a:t>▸ 基于以上背景与痛点，下面介绍系统的需求分析与设计目标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02 需求分析与目标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D5FD"/>
                </a:solidFill>
                <a:latin typeface="微软雅黑"/>
              </a:defRPr>
            </a:pPr>
            <a:r>
              <a:t>30秒 · 8个模块 · 5维非功能 · 6项研究内容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3/10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188720"/>
            <a:ext cx="5669280" cy="2560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188720"/>
            <a:ext cx="54864" cy="256032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6DB"/>
                </a:solidFill>
                <a:latin typeface="微软雅黑"/>
              </a:defRPr>
            </a:pPr>
            <a:r>
              <a:t>🔧 功能性需求（8个模块）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91640"/>
            <a:ext cx="52120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用户认证：注册/登录/令牌刷新/登出/失败锁定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帖子管理：分区浏览/发帖/编辑/删除/详情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评论互动：一级评论/二级回复/编辑/删除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点赞：去重(联合唯一约束)  ·  通知：公告/个人/已读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搜索：关键词+分区  ·  媒体：音乐/书籍推荐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网关：统一路由+JWT鉴权+CORS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188720"/>
            <a:ext cx="5669280" cy="2560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0" y="1188720"/>
            <a:ext cx="54864" cy="2560320"/>
          </a:xfrm>
          <a:prstGeom prst="roundRect">
            <a:avLst>
              <a:gd name="adj" fmla="val 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3258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A853"/>
                </a:solidFill>
                <a:latin typeface="微软雅黑"/>
              </a:defRPr>
            </a:pPr>
            <a:r>
              <a:t>📊 非功能性需求（5维度）+ 角色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691640"/>
            <a:ext cx="52120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性能：缓存命中→毫秒级, 未命中≤500ms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安全：JWT双令牌(24h/7d) + 失败5次锁定600s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可扩展：Nacos注册, 新模块即插即用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可维护：Docker Compose + 一键启停 + 自动回归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兼容：PC+移动双端, 同一网关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角色：游客(只读) / 注册用户(全功能, 非RBAC)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4023360"/>
            <a:ext cx="1152144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65760" y="4023360"/>
            <a:ext cx="54864" cy="210312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1605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6DB"/>
                </a:solidFill>
                <a:latin typeface="微软雅黑"/>
              </a:defRPr>
            </a:pPr>
            <a:r>
              <a:t>🎯 论文六项研究内容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52628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①后端微服务拆分(6服务+Nacos+Gateway)　②JWT+Redis认证闭环　③论坛核心数据建模+Redis缓存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④Vue3双端前端(Element Plus/Vant)　⑤通知/搜索/媒体辅助服务协同　⑥Docker+脚本+Python自动化测试体系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0" y="6400800"/>
            <a:ext cx="12191695" cy="457200"/>
          </a:xfrm>
          <a:prstGeom prst="roundRect">
            <a:avLst>
              <a:gd name="adj" fmla="val 0"/>
            </a:avLst>
          </a:prstGeom>
          <a:solidFill>
            <a:srgbClr val="134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6446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BBD5FD"/>
                </a:solidFill>
                <a:latin typeface="微软雅黑"/>
              </a:defRPr>
            </a:pPr>
            <a:r>
              <a:t>▸ 基于以上需求，我们设计了如下系统架构...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03 系统设计 — 四层架构与7子模块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D5FD"/>
                </a:solidFill>
                <a:latin typeface="微软雅黑"/>
              </a:defRPr>
            </a:pPr>
            <a:r>
              <a:t>30秒 · 架构图 + 模块职责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4/10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0" y="1188720"/>
            <a:ext cx="3200400" cy="731520"/>
          </a:xfrm>
          <a:prstGeom prst="roundRect">
            <a:avLst>
              <a:gd name="adj" fmla="val 3000"/>
            </a:avLst>
          </a:prstGeom>
          <a:solidFill>
            <a:srgbClr val="E8F0FE"/>
          </a:solidFill>
          <a:ln w="1905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32588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1A56DB"/>
                </a:solidFill>
                <a:latin typeface="微软雅黑"/>
              </a:defRPr>
            </a:pPr>
            <a:r>
              <a:t>用户接入层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13258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02C3C"/>
                </a:solidFill>
                <a:latin typeface="微软雅黑"/>
              </a:defRPr>
            </a:pPr>
            <a:r>
              <a:t>PC端 :5173 (Vue3+Element Plus)　|　移动端 :5174 (Vue3+Vant)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0" y="2103120"/>
            <a:ext cx="7315200" cy="731520"/>
          </a:xfrm>
          <a:prstGeom prst="roundRect">
            <a:avLst>
              <a:gd name="adj" fmla="val 3000"/>
            </a:avLst>
          </a:prstGeom>
          <a:solidFill>
            <a:srgbClr val="FEF3E2"/>
          </a:solidFill>
          <a:ln w="1905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24028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B8C00"/>
                </a:solidFill>
                <a:latin typeface="微软雅黑"/>
              </a:defRPr>
            </a:pPr>
            <a:r>
              <a:t>网关层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2240280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02C3C"/>
                </a:solidFill>
                <a:latin typeface="微软雅黑"/>
              </a:defRPr>
            </a:pPr>
            <a:r>
              <a:t>Gateway :8080 — 路由 · JWT验证 · CORS · 会话校验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11680" y="3017520"/>
            <a:ext cx="7315200" cy="731520"/>
          </a:xfrm>
          <a:prstGeom prst="roundRect">
            <a:avLst>
              <a:gd name="adj" fmla="val 3000"/>
            </a:avLst>
          </a:prstGeom>
          <a:solidFill>
            <a:srgbClr val="E8F5E9"/>
          </a:solidFill>
          <a:ln w="1905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15468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34A853"/>
                </a:solidFill>
                <a:latin typeface="微软雅黑"/>
              </a:defRPr>
            </a:pPr>
            <a:r>
              <a:t>业务服务层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3154680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02C3C"/>
                </a:solidFill>
                <a:latin typeface="微软雅黑"/>
              </a:defRPr>
            </a:pPr>
            <a:r>
              <a:t>auth:8081(6)　|　forum:8082(10)　|　notify:8083(3)　|　media:8084(2)　|　search:8085(1)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11680" y="3931920"/>
            <a:ext cx="7315200" cy="731520"/>
          </a:xfrm>
          <a:prstGeom prst="roundRect">
            <a:avLst>
              <a:gd name="adj" fmla="val 3000"/>
            </a:avLst>
          </a:prstGeom>
          <a:solidFill>
            <a:srgbClr val="E3F2FD"/>
          </a:solidFill>
          <a:ln w="1905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406908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1A56DB"/>
                </a:solidFill>
                <a:latin typeface="微软雅黑"/>
              </a:defRPr>
            </a:pPr>
            <a:r>
              <a:t>基础设施层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60" y="4069080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02C3C"/>
                </a:solidFill>
                <a:latin typeface="微软雅黑"/>
              </a:defRPr>
            </a:pPr>
            <a:r>
              <a:t>MySQL 8.4 :3306　|　Redis 7.4 :6379　|　Nacos 2.3.2 :8848　|　Docker Compose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846320"/>
            <a:ext cx="1152144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65760" y="4846320"/>
            <a:ext cx="54864" cy="137160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9834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6DB"/>
                </a:solidFill>
                <a:latin typeface="微软雅黑"/>
              </a:defRPr>
            </a:pPr>
            <a:r>
              <a:t>🧩 7个Maven子模块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3492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common-lib(公共常量+ApiResponse) → gateway(路由鉴权) → auth(JWT双令牌+Redis会话+锁定)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→ forum(帖子/评论/点赞+@Cacheable) → notification(公告/通知) → search(Feign→forum) → media(静态推荐)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0" y="6400800"/>
            <a:ext cx="12191695" cy="457200"/>
          </a:xfrm>
          <a:prstGeom prst="roundRect">
            <a:avLst>
              <a:gd name="adj" fmla="val 0"/>
            </a:avLst>
          </a:prstGeom>
          <a:solidFill>
            <a:srgbClr val="134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46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BBD5FD"/>
                </a:solidFill>
                <a:latin typeface="微软雅黑"/>
              </a:defRPr>
            </a:pPr>
            <a:r>
              <a:t>▸ 下面展示数据库设计和核心安全机制...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03 系统设计 — 数据库与安全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D5FD"/>
                </a:solidFill>
                <a:latin typeface="微软雅黑"/>
              </a:defRPr>
            </a:pPr>
            <a:r>
              <a:t>30秒 · 6张表 · 3NF · JWT+Redis鉴权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5/10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188720"/>
          <a:ext cx="1161288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220"/>
                <a:gridCol w="2903220"/>
                <a:gridCol w="2903220"/>
                <a:gridCol w="290322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表名</a:t>
                      </a:r>
                    </a:p>
                  </a:txBody>
                  <a:tcPr anchor="ctr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所属服务</a:t>
                      </a:r>
                    </a:p>
                  </a:txBody>
                  <a:tcPr anchor="ctr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核心字段</a:t>
                      </a:r>
                    </a:p>
                  </a:txBody>
                  <a:tcPr anchor="ctr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特殊约束</a:t>
                      </a:r>
                    </a:p>
                  </a:txBody>
                  <a:tcPr anchor="ctr">
                    <a:solidFill>
                      <a:srgbClr val="1A56D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user_account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auth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id, username, password(BCrypt), nickname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username唯一索引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forum_section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forum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id, name, description, sort_order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name唯一, 种子初始化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forum_post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forum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id, title, content, author_id/name, section_id/name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冗余字段免JOIN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post_comment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forum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id, post_id, content, parent_comment_id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parent为空=一级评论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post_like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forum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id, post_id, user_id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联合唯一(post+user)去重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notification_message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notification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id, type, user_id, title, is_read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ANNOUNCEMENT/USER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274320" y="4023360"/>
            <a:ext cx="5669280" cy="2560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4320" y="4023360"/>
            <a:ext cx="54864" cy="256032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6DB"/>
                </a:solidFill>
                <a:latin typeface="微软雅黑"/>
              </a:defRPr>
            </a:pPr>
            <a:r>
              <a:t>🔐 JWT + Redis 双重鉴权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2120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1. 登录→签发Access(24h)+Refresh(7d)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2. Redis写入 auth:session:{sid}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3. Gateway JwtRelayFilter: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 签名验证→类型检查→Redis会话校验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 →透传 X-User-Id / X-Username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4. 登出→删除Redis session→立即失效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4023360"/>
            <a:ext cx="5760720" cy="2560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26480" y="4023360"/>
            <a:ext cx="54864" cy="2560320"/>
          </a:xfrm>
          <a:prstGeom prst="roundRect">
            <a:avLst>
              <a:gd name="adj" fmla="val 0"/>
            </a:avLst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41605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53935"/>
                </a:solidFill>
                <a:latin typeface="微软雅黑"/>
              </a:defRPr>
            </a:pPr>
            <a:r>
              <a:t>🔗 Redis 缓存+会话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26280"/>
            <a:ext cx="5303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auth:session:{sid} → 用户会话(登出即删)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auth:login:fail:{user}:{ip} → 失败计数(5次锁定)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forum:post:list → 帖子列表(TTL=2min)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forum:post:detail → 帖子详情(TTL=5min)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写操作→@CacheEvict自动淘汰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6张表满足3NF, forum_post冗余author/section免JOIN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0" y="6400800"/>
            <a:ext cx="12191695" cy="457200"/>
          </a:xfrm>
          <a:prstGeom prst="roundRect">
            <a:avLst>
              <a:gd name="adj" fmla="val 0"/>
            </a:avLst>
          </a:prstGeom>
          <a:solidFill>
            <a:srgbClr val="134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446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BBD5FD"/>
                </a:solidFill>
                <a:latin typeface="微软雅黑"/>
              </a:defRPr>
            </a:pPr>
            <a:r>
              <a:t>▸ 架构和数据模型确定后，进入核心功能的实现...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04 实现 — 认证闭环与论坛核心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D5FD"/>
                </a:solidFill>
                <a:latin typeface="微软雅黑"/>
              </a:defRPr>
            </a:pPr>
            <a:r>
              <a:t>30秒 · 伪代码 · 缓存策略 · 难点攻克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6/10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188720"/>
            <a:ext cx="3657600" cy="4937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188720"/>
            <a:ext cx="54864" cy="493776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6DB"/>
                </a:solidFill>
                <a:latin typeface="微软雅黑"/>
              </a:defRPr>
            </a:pPr>
            <a:r>
              <a:t>🔐 认证伪代码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91640"/>
            <a:ext cx="32004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function login(username, password):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if locked(user,ip): throw 锁定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user = db.findByUsername(username)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if !bcrypt.match(password):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  redis.incr(fail_count)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  if count&gt;=5: lock 600s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  throw 密码错误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clearFailCount()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sid = UUID.random()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access = jwt.sign({uid,sid,typ:'access'})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refresh = jwt.sign({uid,sid,typ:'refresh'})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redis.set('auth:session:'+sid, uid)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return {access, refresh}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1188720"/>
            <a:ext cx="3657600" cy="4937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06240" y="1188720"/>
            <a:ext cx="54864" cy="4937760"/>
          </a:xfrm>
          <a:prstGeom prst="roundRect">
            <a:avLst>
              <a:gd name="adj" fmla="val 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1325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A853"/>
                </a:solidFill>
                <a:latin typeface="微软雅黑"/>
              </a:defRPr>
            </a:pPr>
            <a:r>
              <a:t>📝 论坛核心伪代码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691640"/>
            <a:ext cx="32004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// 发帖(含缓存淘汰)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@CacheEvict('forum:post:list')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function createPost(req, user):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section = loadSection(req.sectionId)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post = save(title,content,section,user)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return post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// 点赞(双重去重)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function likePost(postId, userId):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if exists(postId, userId):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  throw '已点赞(4091)'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try: insert(postId, userId)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catch UniqueViolation: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  throw '已点赞' // DB层兜底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188720"/>
            <a:ext cx="3840480" cy="4937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46720" y="1188720"/>
            <a:ext cx="54864" cy="4937760"/>
          </a:xfrm>
          <a:prstGeom prst="roundRect">
            <a:avLst>
              <a:gd name="adj" fmla="val 0"/>
            </a:avLst>
          </a:prstGeom>
          <a:solidFill>
            <a:srgbClr val="FB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32588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B8C00"/>
                </a:solidFill>
                <a:latin typeface="微软雅黑"/>
              </a:defRPr>
            </a:pPr>
            <a:r>
              <a:t>💡 难点与解决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1691640"/>
            <a:ext cx="33832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① 并发点赞去重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→ DB联合唯一约束+业务层捕获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② 401并发刷新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→ isRefreshing + pendingQueue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→ 单次refresh+排队重试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③ 缓存一致性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→ @CacheEvict主动淘汰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→ 短TTL(2/5min)兜底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④ 服务间调用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→ OpenFeign(search→forum)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0" y="6400800"/>
            <a:ext cx="12191695" cy="457200"/>
          </a:xfrm>
          <a:prstGeom prst="roundRect">
            <a:avLst>
              <a:gd name="adj" fmla="val 0"/>
            </a:avLst>
          </a:prstGeom>
          <a:solidFill>
            <a:srgbClr val="134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6446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BBD5FD"/>
                </a:solidFill>
                <a:latin typeface="微软雅黑"/>
              </a:defRPr>
            </a:pPr>
            <a:r>
              <a:t>▸ 核心逻辑完成，来看双端前端的实现...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04 实现 — 双端前端与技术栈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D5FD"/>
                </a:solidFill>
                <a:latin typeface="微软雅黑"/>
              </a:defRPr>
            </a:pPr>
            <a:r>
              <a:t>15秒 · PC+移动 · 统一API · 开发环境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7/10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188720"/>
            <a:ext cx="365760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188720"/>
            <a:ext cx="54864" cy="365760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6DB"/>
                </a:solidFill>
                <a:latin typeface="微软雅黑"/>
              </a:defRPr>
            </a:pPr>
            <a:r>
              <a:t>🖥️ PC端 (Element Plus)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91640"/>
            <a:ext cx="32004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6个页面: 登录/列表/详情/发帖/通知/个人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帖子列表: 分区筛选+搜索+分页(5/10/20)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侧边栏: 通知摘要+音乐/书籍推荐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详情页: 正文+点赞+二级评论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顶部导航栏: 用户名/登录按钮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图 4-11 PC端帖子列表页截图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(实际演示时替换为真实截图)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1188720"/>
            <a:ext cx="365760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06240" y="1188720"/>
            <a:ext cx="54864" cy="3657600"/>
          </a:xfrm>
          <a:prstGeom prst="roundRect">
            <a:avLst>
              <a:gd name="adj" fmla="val 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1325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A853"/>
                </a:solidFill>
                <a:latin typeface="微软雅黑"/>
              </a:defRPr>
            </a:pPr>
            <a:r>
              <a:t>📱 移动端 (Vant 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691640"/>
            <a:ext cx="32004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相同6个页面, 纵向堆叠布局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NavBar导航 + Cell列表组件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通知/推荐内嵌列表上方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固定圆形"我"按钮→个人中心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统一设计: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· 加载态/空状态/错误重试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· 不同localStorage前缀(pc/mobile)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188720"/>
            <a:ext cx="384048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46720" y="1188720"/>
            <a:ext cx="54864" cy="3657600"/>
          </a:xfrm>
          <a:prstGeom prst="roundRect">
            <a:avLst>
              <a:gd name="adj" fmla="val 0"/>
            </a:avLst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32588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9C27B0"/>
                </a:solidFill>
                <a:latin typeface="微软雅黑"/>
              </a:defRPr>
            </a:pPr>
            <a:r>
              <a:t>🔧 开发环境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1691640"/>
            <a:ext cx="33832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后端: Java 17 + Spring Boot 3.2.5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微服务: Spring Cloud Alibaba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前端: Vue 3.5 + Vite 5.4 + TS 5.9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UI: Element Plus 2.13 / Vant 4.9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容器: Docker Compose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测试: Python 3 标准库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共享: Axios+Pinia+Vue Router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鉴权: 401拦截器+静默刷新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5120640"/>
            <a:ext cx="1152144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65760" y="5120640"/>
            <a:ext cx="54864" cy="109728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578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6DB"/>
                </a:solidFill>
                <a:latin typeface="微软雅黑"/>
              </a:defRPr>
            </a:pPr>
            <a:r>
              <a:t>🔑 双端一致性设计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6235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共享: api/模块定义 · Pinia auth store · Vue Router路由守卫 · Axios 401拦截器+pendingQueue静默刷新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隔离: localStorage前缀(forum_pc_* / forum_mobile_*) · UI组件库(Element Plus / Vant) · 布局方式(左右分栏 / 纵向堆叠)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0" y="6400800"/>
            <a:ext cx="12191695" cy="457200"/>
          </a:xfrm>
          <a:prstGeom prst="roundRect">
            <a:avLst>
              <a:gd name="adj" fmla="val 0"/>
            </a:avLst>
          </a:prstGeom>
          <a:solidFill>
            <a:srgbClr val="134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46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BBD5FD"/>
                </a:solidFill>
                <a:latin typeface="微软雅黑"/>
              </a:defRPr>
            </a:pPr>
            <a:r>
              <a:t>▸ 系统实现完毕，下面展示测试结果...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05 系统测试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D5FD"/>
                </a:solidFill>
                <a:latin typeface="微软雅黑"/>
              </a:defRPr>
            </a:pPr>
            <a:r>
              <a:t>15秒 · 11场景 · 22接口 · 缓存基准 · 并发负载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8/10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188720"/>
          <a:ext cx="685800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500"/>
                <a:gridCol w="1714500"/>
                <a:gridCol w="1714500"/>
                <a:gridCol w="17145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#</a:t>
                      </a:r>
                    </a:p>
                  </a:txBody>
                  <a:tcPr anchor="ctr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测试场景</a:t>
                      </a:r>
                    </a:p>
                  </a:txBody>
                  <a:tcPr anchor="ctr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预期</a:t>
                      </a:r>
                    </a:p>
                  </a:txBody>
                  <a:tcPr anchor="ctr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结果</a:t>
                      </a:r>
                    </a:p>
                  </a:txBody>
                  <a:tcPr anchor="ctr">
                    <a:solidFill>
                      <a:srgbClr val="1A56D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1-5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分区查询/注册登录/发帖评论搜索/通知媒体/已读标记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code=0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✅通过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6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无Token写操作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code=4010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✅通过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越权删帖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code=4031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✅通过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8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并发重复点赞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[0,4091]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✅通过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登出后旧Token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code=4010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✅通过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10-11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令牌刷新/令牌过期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code=0/4010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✅通过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0" y="1188720"/>
          <a:ext cx="457200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性能指标</a:t>
                      </a:r>
                    </a:p>
                  </a:txBody>
                  <a:tcPr anchor="ctr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数值</a:t>
                      </a:r>
                    </a:p>
                  </a:txBody>
                  <a:tcPr anchor="ctr">
                    <a:solidFill>
                      <a:srgbClr val="1A56D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冷请求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22~31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热请求均值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4~5 ms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P95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5~6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提升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81~85%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并发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10/50/100用户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接口覆盖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22/22 (100%)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274320" y="4023360"/>
            <a:ext cx="548640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74320" y="4023360"/>
            <a:ext cx="54864" cy="2103120"/>
          </a:xfrm>
          <a:prstGeom prst="roundRect">
            <a:avLst>
              <a:gd name="adj" fmla="val 0"/>
            </a:avLst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1605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9C27B0"/>
                </a:solidFill>
                <a:latin typeface="微软雅黑"/>
              </a:defRPr>
            </a:pPr>
            <a:r>
              <a:t>🖥️ 测试环境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526280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CPU: AMD Ryzen 7 5800H · RAM: 16GB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OS: Windows 11 · JDK 17.0.8 · Python 3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基础设施: Docker (MySQL+Redis+Nacos)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测试方法: 全链路黑盒 · 标准库HTTP · 无第三方依赖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4023360"/>
            <a:ext cx="594360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0" y="4023360"/>
            <a:ext cx="54864" cy="210312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4160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6DB"/>
                </a:solidFill>
                <a:latin typeface="微软雅黑"/>
              </a:defRPr>
            </a:pPr>
            <a:r>
              <a:t>📋 三个测试脚本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4526280"/>
            <a:ext cx="5486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run_system_regression.py → 11场景功能回归, Markdown报告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benchmark_forum_cache.py → 冷/热响应对比, P95+提升幅度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load_test_concurrent.py → 10/50/100并发, QPS+成功率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一键执行: bash generate-test-reports.sh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0" y="6400800"/>
            <a:ext cx="12191695" cy="457200"/>
          </a:xfrm>
          <a:prstGeom prst="roundRect">
            <a:avLst>
              <a:gd name="adj" fmla="val 0"/>
            </a:avLst>
          </a:prstGeom>
          <a:solidFill>
            <a:srgbClr val="134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46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BBD5FD"/>
                </a:solidFill>
                <a:latin typeface="微软雅黑"/>
              </a:defRPr>
            </a:pPr>
            <a:r>
              <a:t>▸ 测试全部通过，最后做个总结...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06 总结与展望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D5FD"/>
                </a:solidFill>
                <a:latin typeface="微软雅黑"/>
              </a:defRPr>
            </a:pPr>
            <a:r>
              <a:t>30秒 · 成果 · 不足 · 方向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9/10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188720"/>
            <a:ext cx="3657600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188720"/>
            <a:ext cx="54864" cy="2926080"/>
          </a:xfrm>
          <a:prstGeom prst="roundRect">
            <a:avLst>
              <a:gd name="adj" fmla="val 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A853"/>
                </a:solidFill>
                <a:latin typeface="微软雅黑"/>
              </a:defRPr>
            </a:pPr>
            <a:r>
              <a:t>🏆 三项核心成果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91640"/>
            <a:ext cx="3200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① 微服务架构设计与拆分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5个业务服务+网关+common-lib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JWT+Redis双重鉴权, 四层架构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② 论坛核心+双端前端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6张表, @Cacheable缓存, 点赞去重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Vue3双端共享API, 401静默刷新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③ 可复现的工程验证体系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11场景22接口100%, 缓存提升80%+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1188720"/>
            <a:ext cx="3657600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06240" y="1188720"/>
            <a:ext cx="54864" cy="2926080"/>
          </a:xfrm>
          <a:prstGeom prst="roundRect">
            <a:avLst>
              <a:gd name="adj" fmla="val 0"/>
            </a:avLst>
          </a:prstGeom>
          <a:solidFill>
            <a:srgbClr val="FB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1325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B8C00"/>
                </a:solidFill>
                <a:latin typeface="微软雅黑"/>
              </a:defRPr>
            </a:pPr>
            <a:r>
              <a:t>⚠️ 四个不足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691640"/>
            <a:ext cx="3200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① 搜索基于内存遍历+contains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不支持分词和相关度排序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② 日志采集与监控机制未建立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仅控制台日志, 无统一平台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③ 未在云环境生产级验证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全部测试在本地单机完成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④ 安全测试和单元测试可加强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188720"/>
            <a:ext cx="3840480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46720" y="1188720"/>
            <a:ext cx="54864" cy="292608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32588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6DB"/>
                </a:solidFill>
                <a:latin typeface="微软雅黑"/>
              </a:defRPr>
            </a:pPr>
            <a:r>
              <a:t>🚀 未来方向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1691640"/>
            <a:ext cx="3383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① Elasticsearch全文搜索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倒排索引+分词, 提升检索精度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② ELK日志栈+链路追踪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分布式系统可观测性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③ Kubernetes+CDN部署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弹性伸缩, 静态资源加速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④ OWASP ZAP+JUnit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完善安全与单元测试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389120"/>
            <a:ext cx="115214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65760" y="4389120"/>
            <a:ext cx="54864" cy="182880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5262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6DB"/>
                </a:solidFill>
                <a:latin typeface="微软雅黑"/>
              </a:defRPr>
            </a:pPr>
            <a:r>
              <a:t>📌 一句话总结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892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本文围绕架构解耦、跨平台适配、安全认证和质量保障四个层面，完成了一个基于微服务架构的高校论坛系统，验证了微服务拆分在高校论坛场景下的工程可行性，并建立了可复现的自动化测试体系。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8288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微软雅黑"/>
              </a:defRPr>
            </a:pPr>
            <a:r>
              <a:t>感谢各位老师的指导与聆听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474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BBD5FD"/>
                </a:solidFill>
                <a:latin typeface="微软雅黑"/>
              </a:defRPr>
            </a:pPr>
            <a:r>
              <a:t>恳请各位老师批评指正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4572000"/>
            <a:ext cx="3017520" cy="27432"/>
          </a:xfrm>
          <a:prstGeom prst="rect">
            <a:avLst/>
          </a:prstGeom>
          <a:solidFill>
            <a:srgbClr val="BBD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0" y="48463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BD5FD"/>
                </a:solidFill>
                <a:latin typeface="微软雅黑"/>
              </a:defRPr>
            </a:pPr>
            <a:r>
              <a:t>答辩人：XXX　　指导教师：XXX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53035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BD5FD"/>
                </a:solidFill>
                <a:latin typeface="微软雅黑"/>
              </a:defRPr>
            </a:pPr>
            <a:r>
              <a:t>二〇二六年五月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