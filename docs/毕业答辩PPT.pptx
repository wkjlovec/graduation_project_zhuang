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34747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3291840"/>
            <a:ext cx="12191695" cy="36576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毕业设计答辩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基于微服务架构的高校论坛系统</a:t>
            </a:r>
            <a:br/>
            <a:r>
              <a:t>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5FD"/>
                </a:solidFill>
                <a:latin typeface="微软雅黑"/>
              </a:defRPr>
            </a:pPr>
            <a:r>
              <a:t>—— PC 端 + 移动端双端协同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9BBEE"/>
                </a:solidFill>
                <a:latin typeface="微软雅黑"/>
              </a:defRPr>
            </a:pPr>
            <a:r>
              <a:t>本课题旨在采用 Spring Cloud 微服务 + Vue 3 双端技术，构建面向高校的论坛系统，解决传统单体论坛架构耦合、缺乏移动适配和测试不可复现的问题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931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答辩人：XXX　　学号：XXXXXXXXXX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343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指导教师：XXX 副教授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754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F6B7A"/>
                </a:solidFill>
                <a:latin typeface="微软雅黑"/>
              </a:defRPr>
            </a:pPr>
            <a:r>
              <a:t>专业：软件工程　　学院：计算机与信息学院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60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F6B7A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目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研究背景与意义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为什么做？痛点 · 现状 · 创新点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1772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系统需求分析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做什么？功能 · 非功能 · 角色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169164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377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怎么做？架构 · 模块 · 数据库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系统实现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核心实现 · 双端前端 · 运维脚本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1772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系统测试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功能测试 · 性能测试 · 系统特点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20040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21040" y="3429000"/>
            <a:ext cx="548640" cy="548640"/>
          </a:xfrm>
          <a:prstGeom prst="ellipse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474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微软雅黑"/>
              </a:defRPr>
            </a:pPr>
            <a:r>
              <a:t>总结与展望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1148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F6B7A"/>
                </a:solidFill>
                <a:latin typeface="微软雅黑"/>
              </a:defRPr>
            </a:pPr>
            <a:r>
              <a:t>成果 · 不足 · 未来方向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一、研究背景与意义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为什么做？— 痛点、不足与研究定位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48640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5603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高校论坛现状与痛点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即时通讯→信息几小时后即被覆盖，难以回溯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早期校园BBS（水木清华/北大未名）→ 单体架构老化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多数仅PC端，移动端用户比例已达 99.6%（CNNIC）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功能验证依赖手工操作，交付质量缺少量化判据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前后端耦合→局部修改需全局重新部署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280160"/>
            <a:ext cx="57607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54864" cy="256032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📚 研究现状与本文定位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技术演进：JSP单体 → 前后端分离[5] → 微服务[6]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Aldea等：JWT短生命周期+最小权限缩小攻击面[7]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Agaev：单体→微服务需分阶段重构[20]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高校实践：协同人员管理[8]、科研管理[9]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不足：论坛+微服务+完整测试的工程闭环仍较少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114800"/>
            <a:ext cx="1152144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114800"/>
            <a:ext cx="54864" cy="228600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💡 课题创新点（为什么值得做）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微服务拆分（5业务服务+网关）→ 松耦合、可独立部署与扩展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PC+移动双端协同（Vue 3 + Element Plus / Vant）→ 统一API、一致体验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JWT+Redis会话+网关统一鉴权 → 登录/刷新/登出/锁定完整闭环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Redis缓存 → 帖子列表响应时间提升80%+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⑤ Python自动化测试 → 11场景22接口100%通过 + 缓存基准 + 并发负载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明确了研究意义，接下来介绍系统的需求分析...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二、系统需求分析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做什么？— 8个功能模块 · 5维非功能需求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566928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3774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🔧 功能性需求（8个模块）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用户认证：注册 / 登录 / 令牌刷新 / 登出 / 失败锁定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帖子管理：分区浏览 / 发帖 / 编辑 / 删除 / 详情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评论互动：一级评论 / 二级回复 / 编辑 / 删除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点赞去重 · 通知（公告/个人/已读）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搜索（关键词+分区）· 媒体推荐 · 网关访问控制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66928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4864" cy="237744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📊 非功能性需求（5维度）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性能：缓存命中→毫秒级，未命中≤500ms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安全：JWT双令牌(24h/7d) + 失败5次锁定600s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可扩展：Nacos注册发现，新模块即插即用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可维护：Docker Compose + 一键启停 + 自动回归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兼容：PC端(Element Plus) + 移动端(Vant)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3931920"/>
          <a:ext cx="115214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3383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功能模块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操作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游客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注册用户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浏览列表/详情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帖子管理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发布/编辑/删除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仅作者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评论互动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发表/回复/删除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仅作者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点赞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对帖子点赞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❌→登录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✅(去重)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通知/搜索/媒体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查看/搜索/推荐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✅(部分)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需求明确后，进入系统的架构设计...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三、系统设计 — 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怎么做？— 四层架构 · 端口规划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280160"/>
            <a:ext cx="3657600" cy="914400"/>
          </a:xfrm>
          <a:prstGeom prst="roundRect">
            <a:avLst>
              <a:gd name="adj" fmla="val 3000"/>
            </a:avLst>
          </a:prstGeom>
          <a:solidFill>
            <a:srgbClr val="E8F0FE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A56DB"/>
                </a:solidFill>
                <a:latin typeface="微软雅黑"/>
              </a:defRPr>
            </a:pPr>
            <a:r>
              <a:t>用户接入层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463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PC端 :5173 (Vue3 + Element Plus)　|　移动端 :5174 (Vue3 + Vant)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2377440"/>
            <a:ext cx="8686800" cy="914400"/>
          </a:xfrm>
          <a:prstGeom prst="roundRect">
            <a:avLst>
              <a:gd name="adj" fmla="val 3000"/>
            </a:avLst>
          </a:prstGeom>
          <a:solidFill>
            <a:srgbClr val="FEF3E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56032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B8C00"/>
                </a:solidFill>
                <a:latin typeface="微软雅黑"/>
              </a:defRPr>
            </a:pPr>
            <a:r>
              <a:t>网关层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56032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Spring Cloud Gateway :8080 — 统一路由 · JWT验证 · CORS · Redis会话校验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3474720"/>
            <a:ext cx="8686800" cy="91440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 w="1905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3657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4A853"/>
                </a:solidFill>
                <a:latin typeface="微软雅黑"/>
              </a:defRPr>
            </a:pPr>
            <a:r>
              <a:t>业务服务层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65760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auth :8081　|　forum :8082　|　notification :8083　|　media :8084　|　search :8085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572000"/>
            <a:ext cx="8686800" cy="914400"/>
          </a:xfrm>
          <a:prstGeom prst="roundRect">
            <a:avLst>
              <a:gd name="adj" fmla="val 3000"/>
            </a:avLst>
          </a:prstGeom>
          <a:solidFill>
            <a:srgbClr val="E3F2FD"/>
          </a:solidFill>
          <a:ln w="1905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7548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A56DB"/>
                </a:solidFill>
                <a:latin typeface="微软雅黑"/>
              </a:defRPr>
            </a:pPr>
            <a:r>
              <a:t>基础设施层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75488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02C3C"/>
                </a:solidFill>
                <a:latin typeface="微软雅黑"/>
              </a:defRPr>
            </a:pPr>
            <a:r>
              <a:t>MySQL 8.4 :3306　|　Redis 7.4 :6379　|　Nacos 2.3.2 :8848　|　Docker Compose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43600" y="2194560"/>
            <a:ext cx="36576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5943600" y="3291840"/>
            <a:ext cx="36576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5943600" y="4389120"/>
            <a:ext cx="365760" cy="228600"/>
          </a:xfrm>
          <a:prstGeom prst="downArrow">
            <a:avLst/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4320" y="5669280"/>
            <a:ext cx="1161288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4320" y="5669280"/>
            <a:ext cx="54864" cy="822960"/>
          </a:xfrm>
          <a:prstGeom prst="roundRect">
            <a:avLst>
              <a:gd name="adj" fmla="val 0"/>
            </a:avLst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806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F6B7A"/>
                </a:solidFill>
                <a:latin typeface="微软雅黑"/>
              </a:defRPr>
            </a:pPr>
            <a:r>
              <a:t>设计依据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72200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各服务通过Nacos按服务名寻址 · 实例增减对上游透明 · 网关CORS+双端共用同一组API · Docker Compose一键编排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架构确定后，来看7个服务模块的具体职责...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三、系统设计 — 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7个Maven子模块 · 22个API接口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28016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5F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3502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公共库 (common-lib)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82880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不独立运行 · ApiResponse统一封装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ServiceConstants全局常量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40" y="128016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49040" y="128016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33502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网关 :8080 (gateway)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2880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路由转发(lb://服务名) · JwtRelayFilter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JWT验证+Redis会话+身份透传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128016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23760" y="128016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33502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认证 :8081 (auth-user)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182880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6个接口 · 注册/登录/刷新/登出/me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双令牌 · BCrypt · 失败锁定(5次/600s)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98480" y="128016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698480" y="128016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133502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论坛 :8082 (forum)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35640" y="182880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10个接口 · 帖子/评论/点赞CRUD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分区管理 · @Cacheable缓存 · 种子数据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384048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11680" y="384048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03120" y="389534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通知 :8083 (notification)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3891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3个接口 · ANNOUNCEMENT/USER类型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首页摘要 · 个人通知 · 标记已读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384048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0" y="384048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89534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搜索 :8085 (search)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23560" y="43891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1个接口 · OpenFeign→forum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内存过滤(title/content/author/section)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384048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3840480"/>
            <a:ext cx="3291840" cy="457200"/>
          </a:xfrm>
          <a:prstGeom prst="roundRect">
            <a:avLst>
              <a:gd name="adj" fmla="val 400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3895344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微软雅黑"/>
              </a:defRPr>
            </a:pPr>
            <a:r>
              <a:t>媒体 :8084 (media)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438912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2个接口 · 音乐/书籍推荐</a:t>
            </a:r>
          </a:p>
          <a:p>
            <a:pPr>
              <a:defRPr sz="1100">
                <a:solidFill>
                  <a:srgbClr val="202C3C"/>
                </a:solidFill>
                <a:latin typeface="微软雅黑"/>
              </a:defRPr>
            </a:pPr>
            <a:r>
              <a:t>静态内存数据 · 不访问DB/Redis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模块划分清楚了，下面看数据库设计...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三、系统设计 — 数据库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6张表 · 满足3NF · Redis缓存结构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7/14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11612880" cy="2368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383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表名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所属服务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核心字段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特殊约束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user_account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auth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username(VARCHAR 64), password(BCrypt), nickname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username唯一索引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forum_section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name, description, sort_order, enabled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name唯一 · 种子初始化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forum_post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title(128), content, author_id/name, section_id/name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冗余字段免JOIN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post_comment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post_id, content, user_id, parent_comment_id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parent为空=一级评论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post_like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forum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post_id, user_id, created_at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联合唯一(post+user)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notification_message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notification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id, type, user_id, title, content, is_read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ANNOUNCEMENT/USER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4114800"/>
            <a:ext cx="566928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4114800"/>
            <a:ext cx="54864" cy="24688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251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⚙ 设计要点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77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6张表非主键字段均完全依赖主键，满足3NF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forum_post 冗余 author_name / section_name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列表查询免JOIN + Redis缓存降压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代价：昵称/分区名变更时需额外同步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• post_like 联合唯一约束 uk_post_like_post_user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数据库层+应用层双重去重保障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114800"/>
            <a:ext cx="576072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4114800"/>
            <a:ext cx="54864" cy="246888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🔗 Redis 数据结构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6177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auth:session:{sid} → 用户会话（登出即删除）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auth:login:fail:{user}:{ip} → 失败计数（原子递增）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forum:post:list → 帖子列表缓存（TTL = 2min）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forum:post:detail → 帖子详情缓存（TTL = 5min）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默认缓存 TTL = 10min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写操作 → @CacheEvict 自动淘汰相关缓存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数据模型确定后，进入核心功能的实现...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四、系统实现 — 认证与论坛核心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伪代码 · 缓存策略 · 难点攻克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8/14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493776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🔐 认证伪代码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login(username, password):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locked(user,ip): throw 锁定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user = db.findByUsername(username)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!bcrypt.match(password):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redis.incr(fail_count)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if count&gt;=5: lock 600s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throw 密码错误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clearFailCount()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sid = UUID.random()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access = jwt.sign({uid,sid,typ:'access'})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refresh = jwt.sign({uid,sid,typ:'refresh'})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redis.set('auth:session:'+sid, uid)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{access, refresh}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493776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📝 论坛核心伪代码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发帖(含缓存淘汰)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@CacheEvict('forum:post:list')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createPost(req, user):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section = loadSection(req.sectionId)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post = save(title,content,section,user)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return post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// 点赞(双重去重)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function likePost(postId, userId):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if exists(postId, userId):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throw '已点赞(4091)'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try: insert(postId, userId)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catch UniqueViolation: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  throw '已点赞' // DB层兜底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493776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💡 难点与解决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并发点赞去重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DB联合唯一约束+业务层捕获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401并发刷新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isRefreshing + pendingQueue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单次refresh+排队重试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缓存一致性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@CacheEvict主动淘汰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短TTL(2/5min)兜底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服务间调用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OpenFeign(search→forum)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核心逻辑完成，来看双端前端的实现...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四、系统实现 — 双端前端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PC + 移动 · 统一API · 界面展示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9/14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36576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🖥️ PC端 (Element Plus)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6个页面: 登录/列表/详情/发帖/通知/个人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帖子列表: 分区筛选+搜索+分页(5/10/20)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侧边栏: 通知摘要+音乐/书籍推荐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详情页: 正文+点赞+二级评论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顶部导航栏: 用户名/登录按钮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图 4-11 PC端帖子列表页截图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(实际演示时替换为真实截图)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365760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📱 移动端 (Vant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相同6个页面, 纵向堆叠布局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NavBar导航 + Cell列表组件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通知/推荐内嵌列表上方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固定圆形"我"按钮→个人中心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统一设计: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· 加载态/空状态/错误重试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· 不同localStorage前缀(pc/mobile)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365760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🔧 开发环境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后端: Java 17 + Spring Boot 3.2.5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微服务: Spring Cloud Alibaba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前端: Vue 3.5 + Vite 5.4 + TS 5.9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UI: Element Plus 2.13 / Vant 4.9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容器: Docker Compose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测试: Python 3 标准库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共享: Axios+Pinia+Vue Router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鉴权: 401拦截器+静默刷新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120640"/>
            <a:ext cx="115214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5120640"/>
            <a:ext cx="54864" cy="10972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🔑 双端一致性设计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23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共享: api/模块定义 · Pinia auth store · Vue Router路由守卫 · Axios 401拦截器+pendingQueue静默刷新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隔离: localStorage前缀(forum_pc_* / forum_mobile_*) · UI组件库(Element Plus / Vant) · 布局方式(左右分栏 / 纵向堆叠)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系统实现完毕，下面展示测试结果...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四、系统实现 — 辅助服务与运维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通知/搜索/媒体 · Docker · 一键启停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10/14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54864" cy="256032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🔔 通知服务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NotificationDataInitializer 种子公告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GET /notifications/home → 最新公告+未读数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GET /notifications/my → 个人通知列表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POST /notifications/{id}/read → 标记已读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未携带用户ID时未读数返回0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280160"/>
            <a:ext cx="365760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280160"/>
            <a:ext cx="54864" cy="2560320"/>
          </a:xfrm>
          <a:prstGeom prst="roundRect">
            <a:avLst>
              <a:gd name="adj" fmla="val 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微软雅黑"/>
              </a:defRPr>
            </a:pPr>
            <a:r>
              <a:t>🔍 搜索服务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78308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不持有数据库 → OpenFeign调用forum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keyword为空 → 直接透传帖子列表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keyword不为空 → 内存过滤: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title/contentPreview(前120字)/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authorName/sectionName → contains匹配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280160"/>
            <a:ext cx="384048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54864" cy="2560320"/>
          </a:xfrm>
          <a:prstGeom prst="roundRect">
            <a:avLst>
              <a:gd name="adj" fmla="val 0"/>
            </a:avLst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7A7"/>
                </a:solidFill>
                <a:latin typeface="微软雅黑"/>
              </a:defRPr>
            </a:pPr>
            <a:r>
              <a:t>🎵 媒体推荐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78308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最轻量模块 · 不访问MySQL/Redis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推荐数据硬编码在内存中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GET /media/home → 首页摘要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GET /media/recommendations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→ 按type(music/book/all)筛选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5214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4114800"/>
            <a:ext cx="54864" cy="24688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🐳 Docker Compose + 运维脚本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617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docker-compose.yml → MySQL 8.4 + Redis 7.4 + Nacos 2.3.2（forum-net bridge网络 · 数据卷持久化 · 健康检查）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start-backend-all.sh → 启动顺序: common-lib构建 → auth → forum → notification → media → search → gateway（最后）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stop-backend-all.sh → 反向顺序关闭（网关最先停止阻止新请求）  ·  verify-backend-all.sh → /actuator/health验活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支持三种模式: full(需Nacos) / direct(无Nacos静态路由) / auto(自动判断)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系统实现完毕，下面展示测试结果...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五、系统测试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功能测试 · 性能测试 · 测试环境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11/14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88720"/>
          <a:ext cx="6858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测试场景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预期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结果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1-5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分区查询/注册登录/发帖评论搜索/通知媒体/已读标记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无Token写操作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code=4010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越权删帖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code=4031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并发重复点赞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[0,4091]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登出后旧Token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code=4010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10-11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令牌刷新/令牌过期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code=0/4010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✅通过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188720"/>
          <a:ext cx="45720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性能指标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数值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冷请求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22~31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热请求均值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4~5 ms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5~6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提升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81~85%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并发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10/50/100用户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接口覆盖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22/22 (100%)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74320" y="4023360"/>
            <a:ext cx="54864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4023360"/>
            <a:ext cx="54864" cy="2103120"/>
          </a:xfrm>
          <a:prstGeom prst="roundRect">
            <a:avLst>
              <a:gd name="adj" fmla="val 0"/>
            </a:avLst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C27B0"/>
                </a:solidFill>
                <a:latin typeface="微软雅黑"/>
              </a:defRPr>
            </a:pPr>
            <a:r>
              <a:t>🖥️ 测试环境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CPU: AMD Ryzen 7 5800H · RAM: 16GB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OS: Windows 11 · JDK 17.0.8 · Python 3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基础设施: Docker (MySQL+Redis+Nacos)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测试方法: 全链路黑盒 · 标准库HTTP · 无第三方依赖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023360"/>
            <a:ext cx="594360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0" y="4023360"/>
            <a:ext cx="54864" cy="210312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📋 三个测试脚本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52628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run_system_regression.py → 11场景功能回归, Markdown报告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benchmark_forum_cache.py → 冷/热响应对比, P95+提升幅度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load_test_concurrent.py → 10/50/100并发, QPS+成功率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一键执行: bash generate-test-reports.sh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测试全部通过，下面做系统特点总结...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五、系统特点总结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与同类毕设项目的差异化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12/14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280160"/>
          <a:ext cx="116128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传统校园论坛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本系统</a:t>
                      </a:r>
                    </a:p>
                  </a:txBody>
                  <a:tcPr anchor="ctr">
                    <a:solidFill>
                      <a:srgbClr val="1A56D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架构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单体 / 前后端未分离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微服务(5服务+网关) · Nacos注册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终端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仅PC端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PC + 移动双端 · 统一API网关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认证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Cookie-Session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JWT双令牌 + Redis会话 + 失败锁定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缓存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无 / 本地缓存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Redis · @Cacheable · 2/5/10min TTL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手工测试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Python自动化 · 11场景22接口 · 缓存基准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部署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手工安装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Docker Compose · 一键启停 · 三种模式</a:t>
                      </a:r>
                    </a:p>
                  </a:txBody>
                  <a:tcPr anchor="ctr"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可扩展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修改需全局重部署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02C3C"/>
                          </a:solidFill>
                          <a:latin typeface="微软雅黑"/>
                        </a:defRPr>
                      </a:pPr>
                      <a:r>
                        <a:t>新模块注册Nacos + 网关加路由即可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4754880"/>
            <a:ext cx="116128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" y="4754880"/>
            <a:ext cx="54864" cy="164592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920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📌 效果数据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功能测试: 11个端到端场景 · 22个API接口 · 通过率100%　|　缓存提升: 冷请求22~31ms → 热请求4~5ms · 提升81~85%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并发负载: 10/50/100用户 · 稳定响应 · 成功率高　|　运维闭环: 启动→验活→回归→报告 · 全流程可重复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0" y="6400800"/>
            <a:ext cx="12191695" cy="457200"/>
          </a:xfrm>
          <a:prstGeom prst="roundRect">
            <a:avLst>
              <a:gd name="adj" fmla="val 0"/>
            </a:avLst>
          </a:prstGeom>
          <a:solidFill>
            <a:srgbClr val="134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D5FD"/>
                </a:solidFill>
                <a:latin typeface="微软雅黑"/>
              </a:defRPr>
            </a:pPr>
            <a:r>
              <a:t>▸ 最后做一个全文总结...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0584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微软雅黑"/>
              </a:defRPr>
            </a:pPr>
            <a:r>
              <a:t>六、总结与展望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核心成果 · 存在问题 · 未来方向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13/14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88720"/>
            <a:ext cx="36576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188720"/>
            <a:ext cx="54864" cy="2926080"/>
          </a:xfrm>
          <a:prstGeom prst="roundRect">
            <a:avLst>
              <a:gd name="adj" fmla="val 0"/>
            </a:avLst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A853"/>
                </a:solidFill>
                <a:latin typeface="微软雅黑"/>
              </a:defRPr>
            </a:pPr>
            <a:r>
              <a:t>🏆 三项核心成果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微服务架构设计与拆分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5个业务服务+网关+common-lib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JWT+Redis双重鉴权, 四层架构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论坛核心+双端前端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6张表, @Cacheable缓存, 点赞去重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Vue3双端共享API, 401静默刷新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可复现的工程验证体系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11场景22接口100%, 缓存提升80%+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6576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06240" y="1188720"/>
            <a:ext cx="54864" cy="2926080"/>
          </a:xfrm>
          <a:prstGeom prst="roundRect">
            <a:avLst>
              <a:gd name="adj" fmla="val 0"/>
            </a:avLst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325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8C00"/>
                </a:solidFill>
                <a:latin typeface="微软雅黑"/>
              </a:defRPr>
            </a:pPr>
            <a:r>
              <a:t>⚠️ 四个不足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6916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搜索基于内存遍历+contains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不支持分词和相关度排序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日志采集与监控机制未建立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仅控制台日志, 无统一平台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未在云环境生产级验证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全部测试在本地单机完成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安全测试和单元测试可加强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88720"/>
            <a:ext cx="384048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188720"/>
            <a:ext cx="54864" cy="292608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258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🚀 未来方向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① Elasticsearch全文搜索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倒排索引+分词, 提升检索精度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② ELK日志栈+链路追踪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分布式系统可观测性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③ Kubernetes+CDN部署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弹性伸缩, 静态资源加速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④ OWASP ZAP+JUnit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  完善安全与单元测试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389120"/>
            <a:ext cx="115214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4389120"/>
            <a:ext cx="54864" cy="18288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  <a:latin typeface="微软雅黑"/>
              </a:defRPr>
            </a:pPr>
            <a:r>
              <a:t>📌 一句话总结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92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  <a:defRPr sz="1300">
                <a:solidFill>
                  <a:srgbClr val="202C3C"/>
                </a:solidFill>
                <a:latin typeface="微软雅黑"/>
              </a:defRPr>
            </a:pPr>
            <a:r>
              <a:t>本文围绕架构解耦、跨平台适配、安全认证和质量保障四个层面，完成了一个基于微服务架构的高校论坛系统，验证了微服务拆分在高校论坛场景下的工程可行性，并建立了可复现的自动化测试体系。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感谢各位老师的指导与聆听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BD5FD"/>
                </a:solidFill>
                <a:latin typeface="微软雅黑"/>
              </a:defRPr>
            </a:pPr>
            <a:r>
              <a:t>恳请各位老师批评指正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572000"/>
            <a:ext cx="3017520" cy="27432"/>
          </a:xfrm>
          <a:prstGeom prst="rect">
            <a:avLst/>
          </a:prstGeom>
          <a:solidFill>
            <a:srgbClr val="BBD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4846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D5FD"/>
                </a:solidFill>
                <a:latin typeface="微软雅黑"/>
              </a:defRPr>
            </a:pPr>
            <a:r>
              <a:t>答辩人：XXX　　指导教师：XXX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303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D5FD"/>
                </a:solidFill>
                <a:latin typeface="微软雅黑"/>
              </a:defRPr>
            </a:pPr>
            <a:r>
              <a:t>二〇二六年五月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