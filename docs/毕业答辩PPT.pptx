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474720"/>
          </a:xfrm>
          <a:prstGeom prst="roundRect">
            <a:avLst>
              <a:gd name="adj" fmla="val 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3291840"/>
            <a:ext cx="12191695" cy="365760"/>
          </a:xfrm>
          <a:prstGeom prst="roundRect">
            <a:avLst>
              <a:gd name="adj" fmla="val 0"/>
            </a:avLst>
          </a:prstGeom>
          <a:solidFill>
            <a:srgbClr val="134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D5FD"/>
                </a:solidFill>
                <a:latin typeface="微软雅黑"/>
              </a:defRPr>
            </a:pPr>
            <a:r>
              <a:t>毕业设计答辩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基于微服务架构的论坛系统</a:t>
            </a:r>
            <a:br/>
            <a:r>
              <a:t>设计与实现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468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D5FD"/>
                </a:solidFill>
                <a:latin typeface="微软雅黑"/>
              </a:defRPr>
            </a:pPr>
            <a:r>
              <a:t>—— PC 端 + 移动端双端协同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023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F6B7A"/>
                </a:solidFill>
                <a:latin typeface="微软雅黑"/>
              </a:defRPr>
            </a:pPr>
            <a:r>
              <a:t>答辩人：XXX　　学号：XXXXXXXXXX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4348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F6B7A"/>
                </a:solidFill>
                <a:latin typeface="微软雅黑"/>
              </a:defRPr>
            </a:pPr>
            <a:r>
              <a:t>指导教师：XXX 副教授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8463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F6B7A"/>
                </a:solidFill>
                <a:latin typeface="微软雅黑"/>
              </a:defRPr>
            </a:pPr>
            <a:r>
              <a:t>专业：软件工程　　学院：计算机与信息学院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57607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B7A"/>
                </a:solidFill>
                <a:latin typeface="微软雅黑"/>
              </a:defRPr>
            </a:pPr>
            <a:r>
              <a:t>二〇二六年五月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>
              <a:gd name="adj" fmla="val 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目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D5FD"/>
                </a:solidFill>
                <a:latin typeface="微软雅黑"/>
              </a:defRPr>
            </a:pPr>
            <a: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微软雅黑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691640"/>
            <a:ext cx="548640" cy="5486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微软雅黑"/>
              </a:defRPr>
            </a:pPr>
            <a:r>
              <a:t>研究背景与意义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B7A"/>
                </a:solidFill>
                <a:latin typeface="微软雅黑"/>
              </a:defRPr>
            </a:pPr>
            <a:r>
              <a:t>行业痛点 · 现有方案不足 · 课题创新点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6304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17720" y="1691640"/>
            <a:ext cx="548640" cy="5486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微软雅黑"/>
              </a:defRPr>
            </a:pPr>
            <a:r>
              <a:t>需求分析与目标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377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B7A"/>
                </a:solidFill>
                <a:latin typeface="微软雅黑"/>
              </a:defRPr>
            </a:pPr>
            <a:r>
              <a:t>功能需求 · 非功能需求 · 技术路线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6304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21040" y="1691640"/>
            <a:ext cx="548640" cy="5486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微软雅黑"/>
              </a:defRPr>
            </a:pPr>
            <a:r>
              <a:t>系统设计与架构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377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B7A"/>
                </a:solidFill>
                <a:latin typeface="微软雅黑"/>
              </a:defRPr>
            </a:pPr>
            <a:r>
              <a:t>整体架构 · 核心模块 · 技术选型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20040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3429000"/>
            <a:ext cx="548640" cy="5486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微软雅黑"/>
              </a:defRPr>
            </a:pPr>
            <a:r>
              <a:t>实现与关键技术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14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B7A"/>
                </a:solidFill>
                <a:latin typeface="微软雅黑"/>
              </a:defRPr>
            </a:pPr>
            <a:r>
              <a:t>核心功能 · 难点攻克 · 开发工具链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20040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617720" y="3429000"/>
            <a:ext cx="548640" cy="5486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微软雅黑"/>
              </a:defRPr>
            </a:pPr>
            <a:r>
              <a:t>系统测试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114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B7A"/>
                </a:solidFill>
                <a:latin typeface="微软雅黑"/>
              </a:defRPr>
            </a:pPr>
            <a:r>
              <a:t>测试策略 · 回归测试 · 性能基准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20040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21040" y="3429000"/>
            <a:ext cx="548640" cy="5486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微软雅黑"/>
              </a:defRPr>
            </a:pPr>
            <a:r>
              <a:t>总结与展望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114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B7A"/>
                </a:solidFill>
                <a:latin typeface="微软雅黑"/>
              </a:defRPr>
            </a:pPr>
            <a:r>
              <a:t>核心成果 · 不足 · 未来方向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>
              <a:gd name="adj" fmla="val 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01 研究背景与意义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D5FD"/>
                </a:solidFill>
                <a:latin typeface="微软雅黑"/>
              </a:defRPr>
            </a:pPr>
            <a:r>
              <a:t>Research Background &amp; Significance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微软雅黑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30352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4864" cy="2377440"/>
          </a:xfrm>
          <a:prstGeom prst="roundRect">
            <a:avLst>
              <a:gd name="adj" fmla="val 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微软雅黑"/>
              </a:defRPr>
            </a:pPr>
            <a:r>
              <a:t>📋 行业与社会痛点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• 高校交流场景碎片化：教学通知分散在课程平台、班级群等多渠道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• 信息版本不一致、上下文断裂、历史结论难追溯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• AI工具普及后内容生产加速，信息密集但有效触达率低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• 传统论坛系统功能单一，工程可维护性差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280160"/>
            <a:ext cx="530352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6480" y="1280160"/>
            <a:ext cx="54864" cy="2377440"/>
          </a:xfrm>
          <a:prstGeom prst="roundRect">
            <a:avLst>
              <a:gd name="adj" fmla="val 0"/>
            </a:avLst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17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8C00"/>
                </a:solidFill>
                <a:latin typeface="微软雅黑"/>
              </a:defRPr>
            </a:pPr>
            <a:r>
              <a:t>⚠️ 现有方案的不足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• 单体架构 → 模块耦合高、扩展性差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• 仅PC端 → 移动端体验缺失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• 缺少统一鉴权 → 安全边界模糊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• 无自动化测试 → 交付质量不可控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• 缺乏缓存机制 → 高并发下性能瓶颈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1097280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54864" cy="2377440"/>
          </a:xfrm>
          <a:prstGeom prst="roundRect">
            <a:avLst>
              <a:gd name="adj" fmla="val 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69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A853"/>
                </a:solidFill>
                <a:latin typeface="微软雅黑"/>
              </a:defRPr>
            </a:pPr>
            <a:r>
              <a:t>💡 课题创新点与价值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3484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① 微服务架构（6个独立服务） → 松耦合、可独立部署与扩展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② PC + 移动双端协同（Vue 3 + Element Plus / Vant） → 统一API、一致体验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③ JWT + Redis会话 + 网关统一鉴权 → 完整安全闭环（登录/刷新/登出/锁定）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④ Redis缓存层 → 帖子列表缓存命中后响应提升 80%+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⑤ 可复现测试链路（回归脚本 + 缓存基准 + 一键启停） → 工程质量可验证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>
              <a:gd name="adj" fmla="val 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02 需求分析与目标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D5FD"/>
                </a:solidFill>
                <a:latin typeface="微软雅黑"/>
              </a:defRPr>
            </a:pPr>
            <a:r>
              <a:t>Requirements Analysis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微软雅黑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4864" cy="2743200"/>
          </a:xfrm>
          <a:prstGeom prst="roundRect">
            <a:avLst>
              <a:gd name="adj" fmla="val 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微软雅黑"/>
              </a:defRPr>
            </a:pPr>
            <a:r>
              <a:t>🔧 功能性需求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用户管理：注册/登录/登出/个人信息/会话管理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论坛核心：分区浏览/发帖/编辑/删除/详情查看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互动功能：评论(含二级回复)/点赞(去重)/搜索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通知系统：系统公告/个人通知/标记已读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推荐模块：音乐/书籍推荐（首页展示）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双端支持：PC端 + 移动端 完整功能覆盖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4864" cy="2743200"/>
          </a:xfrm>
          <a:prstGeom prst="roundRect">
            <a:avLst>
              <a:gd name="adj" fmla="val 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A853"/>
                </a:solidFill>
                <a:latin typeface="微软雅黑"/>
              </a:defRPr>
            </a:pPr>
            <a:r>
              <a:t>📊 非功能性需求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8308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性能：帖子列表缓存命中后响应 ≤ 10ms (P95)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安全：JWT双令牌 + 会话校验 + 登录失败锁定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可用性：一键启停脚本 + 健康检查验活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可测试性：自动化回归12项场景 + 缓存基准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可维护性：服务独立部署、统一接口规范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兼容性：PC浏览器 + 移动端浏览器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97680"/>
            <a:ext cx="1124712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4297680"/>
            <a:ext cx="54864" cy="2103120"/>
          </a:xfrm>
          <a:prstGeom prst="roundRect">
            <a:avLst>
              <a:gd name="adj" fmla="val 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微软雅黑"/>
              </a:defRPr>
            </a:pPr>
            <a:r>
              <a:t>🎯 研究目标与技术路线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目标：设计并实现一个面向高校场景的微服务论坛系统，解决信息碎片化和系统可维护性问题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技术路线：需求调研 → 架构设计（微服务拆分） → 核心服务开发 → 双端前端开发 → 缓存与安全加固 → 自动化测试与验收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>
              <a:gd name="adj" fmla="val 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03 系统设计与架构 — 整体架构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D5FD"/>
                </a:solidFill>
                <a:latin typeface="微软雅黑"/>
              </a:defRPr>
            </a:pPr>
            <a:r>
              <a:t>System Architecture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微软雅黑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2011680" y="1188720"/>
            <a:ext cx="3200400" cy="960120"/>
          </a:xfrm>
          <a:prstGeom prst="roundRect">
            <a:avLst>
              <a:gd name="adj" fmla="val 3000"/>
            </a:avLst>
          </a:prstGeom>
          <a:solidFill>
            <a:srgbClr val="E8F0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客户端层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4173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02C3C"/>
                </a:solidFill>
                <a:latin typeface="微软雅黑"/>
              </a:defRPr>
            </a:pPr>
            <a:r>
              <a:t>PC端 (Vue3 + Element Plus)　｜　移动端 (Vue3 + Vant)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2331720"/>
            <a:ext cx="7772400" cy="960120"/>
          </a:xfrm>
          <a:prstGeom prst="roundRect">
            <a:avLst>
              <a:gd name="adj" fmla="val 3000"/>
            </a:avLst>
          </a:prstGeom>
          <a:solidFill>
            <a:srgbClr val="FEF3E2"/>
          </a:solidFill>
          <a:ln w="1905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14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B8C00"/>
                </a:solidFill>
                <a:latin typeface="微软雅黑"/>
              </a:defRPr>
            </a:pPr>
            <a:r>
              <a:t>API网关层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560320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02C3C"/>
                </a:solidFill>
                <a:latin typeface="微软雅黑"/>
              </a:defRPr>
            </a:pPr>
            <a:r>
              <a:t>Spring Cloud Gateway — 统一路由 · JWT验证 · CORS · Redis会话校验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3474720"/>
            <a:ext cx="7772400" cy="96012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657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34A853"/>
                </a:solidFill>
                <a:latin typeface="微软雅黑"/>
              </a:defRPr>
            </a:pPr>
            <a:r>
              <a:t>业务服务层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703320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02C3C"/>
                </a:solidFill>
                <a:latin typeface="微软雅黑"/>
              </a:defRPr>
            </a:pPr>
            <a:r>
              <a:t>auth-user　｜　forum　｜　notification　｜　media　｜　search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11680" y="4617720"/>
            <a:ext cx="7772400" cy="960120"/>
          </a:xfrm>
          <a:prstGeom prst="roundRect">
            <a:avLst>
              <a:gd name="adj" fmla="val 3000"/>
            </a:avLst>
          </a:prstGeom>
          <a:solidFill>
            <a:srgbClr val="F3E5F5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800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9C27B0"/>
                </a:solidFill>
                <a:latin typeface="微软雅黑"/>
              </a:defRPr>
            </a:pPr>
            <a:r>
              <a:t>注册中心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846320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02C3C"/>
                </a:solidFill>
                <a:latin typeface="微软雅黑"/>
              </a:defRPr>
            </a:pPr>
            <a:r>
              <a:t>Nacos — 服务注册与发现 · 配置管理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5760720"/>
            <a:ext cx="7772400" cy="960120"/>
          </a:xfrm>
          <a:prstGeom prst="roundRect">
            <a:avLst>
              <a:gd name="adj" fmla="val 3000"/>
            </a:avLst>
          </a:prstGeom>
          <a:solidFill>
            <a:srgbClr val="E3F2FD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943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数据层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5989320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02C3C"/>
                </a:solidFill>
                <a:latin typeface="微软雅黑"/>
              </a:defRPr>
            </a:pPr>
            <a:r>
              <a:t>MySQL 8.4（持久化）　｜　Redis 7.4（缓存 + 会话）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760720" y="2148840"/>
            <a:ext cx="320040" cy="228600"/>
          </a:xfrm>
          <a:prstGeom prst="downArrow">
            <a:avLst/>
          </a:prstGeom>
          <a:solidFill>
            <a:srgbClr val="5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wn Arrow 21"/>
          <p:cNvSpPr/>
          <p:nvPr/>
        </p:nvSpPr>
        <p:spPr>
          <a:xfrm>
            <a:off x="5760720" y="3246120"/>
            <a:ext cx="320040" cy="228600"/>
          </a:xfrm>
          <a:prstGeom prst="downArrow">
            <a:avLst/>
          </a:prstGeom>
          <a:solidFill>
            <a:srgbClr val="5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wn Arrow 22"/>
          <p:cNvSpPr/>
          <p:nvPr/>
        </p:nvSpPr>
        <p:spPr>
          <a:xfrm>
            <a:off x="5760720" y="4389120"/>
            <a:ext cx="320040" cy="228600"/>
          </a:xfrm>
          <a:prstGeom prst="downArrow">
            <a:avLst/>
          </a:prstGeom>
          <a:solidFill>
            <a:srgbClr val="5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wn Arrow 23"/>
          <p:cNvSpPr/>
          <p:nvPr/>
        </p:nvSpPr>
        <p:spPr>
          <a:xfrm>
            <a:off x="5760720" y="5532120"/>
            <a:ext cx="320040" cy="228600"/>
          </a:xfrm>
          <a:prstGeom prst="downArrow">
            <a:avLst/>
          </a:prstGeom>
          <a:solidFill>
            <a:srgbClr val="5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>
              <a:gd name="adj" fmla="val 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03 系统设计与架构 — 核心模块设计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D5FD"/>
                </a:solidFill>
                <a:latin typeface="微软雅黑"/>
              </a:defRPr>
            </a:pPr>
            <a:r>
              <a:t>Core Module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微软雅黑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365760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3657600" cy="502920"/>
          </a:xfrm>
          <a:prstGeom prst="roundRect">
            <a:avLst>
              <a:gd name="adj" fmla="val 4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5331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API网关 (gateway-service)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C3C"/>
                </a:solidFill>
                <a:latin typeface="微软雅黑"/>
              </a:defRPr>
            </a:pPr>
            <a:r>
              <a:t>▸ 端口: 8080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C3C"/>
                </a:solidFill>
                <a:latin typeface="微软雅黑"/>
              </a:defRPr>
            </a:pPr>
            <a:r>
              <a:t>▸ JWT令牌验证+Redis会话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97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C3C"/>
                </a:solidFill>
                <a:latin typeface="微软雅黑"/>
              </a:defRPr>
            </a:pPr>
            <a:r>
              <a:t>▸ 全局CORS跨域配置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08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C3C"/>
                </a:solidFill>
                <a:latin typeface="微软雅黑"/>
              </a:defRPr>
            </a:pPr>
            <a:r>
              <a:t>▸ 路由转发(lb://服务名)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280160"/>
            <a:ext cx="365760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06240" y="1280160"/>
            <a:ext cx="3657600" cy="502920"/>
          </a:xfrm>
          <a:prstGeom prst="roundRect">
            <a:avLst>
              <a:gd name="adj" fmla="val 4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35331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认证用户 (auth-user-service)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874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C3C"/>
                </a:solidFill>
                <a:latin typeface="微软雅黑"/>
              </a:defRPr>
            </a:pPr>
            <a:r>
              <a:t>▸ 端口: 8081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286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C3C"/>
                </a:solidFill>
                <a:latin typeface="微软雅黑"/>
              </a:defRPr>
            </a:pPr>
            <a:r>
              <a:t>▸ 注册/登录/刷新/登出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697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C3C"/>
                </a:solidFill>
                <a:latin typeface="微软雅黑"/>
              </a:defRPr>
            </a:pPr>
            <a:r>
              <a:t>▸ 双令牌(Access+Refresh)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108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C3C"/>
                </a:solidFill>
                <a:latin typeface="微软雅黑"/>
              </a:defRPr>
            </a:pPr>
            <a:r>
              <a:t>▸ 登录失败锁定机制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280160"/>
            <a:ext cx="365760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20" y="1280160"/>
            <a:ext cx="3657600" cy="502920"/>
          </a:xfrm>
          <a:prstGeom prst="roundRect">
            <a:avLst>
              <a:gd name="adj" fmla="val 4000"/>
            </a:avLst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135331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论坛核心 (forum-service)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1874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C3C"/>
                </a:solidFill>
                <a:latin typeface="微软雅黑"/>
              </a:defRPr>
            </a:pPr>
            <a:r>
              <a:t>▸ 端口: 8082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286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C3C"/>
                </a:solidFill>
                <a:latin typeface="微软雅黑"/>
              </a:defRPr>
            </a:pPr>
            <a:r>
              <a:t>▸ 帖子/评论/点赞CRUD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697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C3C"/>
                </a:solidFill>
                <a:latin typeface="微软雅黑"/>
              </a:defRPr>
            </a:pPr>
            <a:r>
              <a:t>▸ 分区管理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108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C3C"/>
                </a:solidFill>
                <a:latin typeface="微软雅黑"/>
              </a:defRPr>
            </a:pPr>
            <a:r>
              <a:t>▸ Redis缓存(@Cacheable)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3931920"/>
            <a:ext cx="365760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65760" y="3931920"/>
            <a:ext cx="3657600" cy="502920"/>
          </a:xfrm>
          <a:prstGeom prst="roundRect">
            <a:avLst>
              <a:gd name="adj" fmla="val 4000"/>
            </a:avLst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0050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通知服务 (notification-service)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526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C3C"/>
                </a:solidFill>
                <a:latin typeface="微软雅黑"/>
              </a:defRPr>
            </a:pPr>
            <a:r>
              <a:t>▸ 端口: 8083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937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C3C"/>
                </a:solidFill>
                <a:latin typeface="微软雅黑"/>
              </a:defRPr>
            </a:pPr>
            <a:r>
              <a:t>▸ 系统公告/个人通知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349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C3C"/>
                </a:solidFill>
                <a:latin typeface="微软雅黑"/>
              </a:defRPr>
            </a:pPr>
            <a:r>
              <a:t>▸ 已读标记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760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C3C"/>
                </a:solidFill>
                <a:latin typeface="微软雅黑"/>
              </a:defRPr>
            </a:pPr>
            <a:r>
              <a:t>▸ 首页通知聚合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06240" y="3931920"/>
            <a:ext cx="365760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206240" y="3931920"/>
            <a:ext cx="3657600" cy="502920"/>
          </a:xfrm>
          <a:prstGeom prst="roundRect">
            <a:avLst>
              <a:gd name="adj" fmla="val 4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43400" y="40050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媒体推荐 (media-service)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4526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C3C"/>
                </a:solidFill>
                <a:latin typeface="微软雅黑"/>
              </a:defRPr>
            </a:pPr>
            <a:r>
              <a:t>▸ 端口: 8084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4937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C3C"/>
                </a:solidFill>
                <a:latin typeface="微软雅黑"/>
              </a:defRPr>
            </a:pPr>
            <a:r>
              <a:t>▸ 音乐/书籍推荐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5349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C3C"/>
                </a:solidFill>
                <a:latin typeface="微软雅黑"/>
              </a:defRPr>
            </a:pPr>
            <a:r>
              <a:t>▸ 首页内容聚合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0" y="5760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C3C"/>
                </a:solidFill>
                <a:latin typeface="微软雅黑"/>
              </a:defRPr>
            </a:pPr>
            <a:r>
              <a:t>▸ 类型筛选(music/book)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46720" y="3931920"/>
            <a:ext cx="365760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046720" y="3931920"/>
            <a:ext cx="3657600" cy="502920"/>
          </a:xfrm>
          <a:prstGeom prst="roundRect">
            <a:avLst>
              <a:gd name="adj" fmla="val 4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83880" y="40050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搜索服务 (search-service)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4526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C3C"/>
                </a:solidFill>
                <a:latin typeface="微软雅黑"/>
              </a:defRPr>
            </a:pPr>
            <a:r>
              <a:t>▸ 端口: 8085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4937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C3C"/>
                </a:solidFill>
                <a:latin typeface="微软雅黑"/>
              </a:defRPr>
            </a:pPr>
            <a:r>
              <a:t>▸ 帖子关键词搜索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5349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C3C"/>
                </a:solidFill>
                <a:latin typeface="微软雅黑"/>
              </a:defRPr>
            </a:pPr>
            <a:r>
              <a:t>▸ OpenFeign服务间调用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5760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C3C"/>
                </a:solidFill>
                <a:latin typeface="微软雅黑"/>
              </a:defRPr>
            </a:pPr>
            <a:r>
              <a:t>▸ 分区+分页联合查询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>
              <a:gd name="adj" fmla="val 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03 系统设计与架构 — 数据库设计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D5FD"/>
                </a:solidFill>
                <a:latin typeface="微软雅黑"/>
              </a:defRPr>
            </a:pPr>
            <a:r>
              <a:t>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微软雅黑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274320" y="1280160"/>
            <a:ext cx="3657600" cy="457200"/>
          </a:xfrm>
          <a:prstGeom prst="roundRect">
            <a:avLst>
              <a:gd name="adj" fmla="val 3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📦 用户表 (user_account)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783080"/>
            <a:ext cx="3657600" cy="32918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8013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  <a:latin typeface="微软雅黑"/>
              </a:defRPr>
            </a:pPr>
            <a:r>
              <a:t>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8013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B7A"/>
                </a:solidFill>
                <a:latin typeface="微软雅黑"/>
              </a:defRPr>
            </a:pPr>
            <a:r>
              <a:t>BIGINT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8013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02C3C"/>
                </a:solidFill>
                <a:latin typeface="微软雅黑"/>
              </a:defRPr>
            </a:pPr>
            <a:r>
              <a:t>主键, 自增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130552"/>
            <a:ext cx="3657600" cy="329184"/>
          </a:xfrm>
          <a:prstGeom prst="roundRect">
            <a:avLst>
              <a:gd name="adj" fmla="val 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148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  <a:latin typeface="微软雅黑"/>
              </a:defRPr>
            </a:pPr>
            <a:r>
              <a:t>username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1488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B7A"/>
                </a:solidFill>
                <a:latin typeface="微软雅黑"/>
              </a:defRPr>
            </a:pPr>
            <a:r>
              <a:t>VARCHAR(50)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1488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02C3C"/>
                </a:solidFill>
                <a:latin typeface="微软雅黑"/>
              </a:defRPr>
            </a:pPr>
            <a:r>
              <a:t>唯一, 登录名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478024"/>
            <a:ext cx="3657600" cy="32918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49631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  <a:latin typeface="微软雅黑"/>
              </a:defRPr>
            </a:pPr>
            <a:r>
              <a:t>password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249631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B7A"/>
                </a:solidFill>
                <a:latin typeface="微软雅黑"/>
              </a:defRPr>
            </a:pPr>
            <a:r>
              <a:t>VARCHAR(255)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24963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02C3C"/>
                </a:solidFill>
                <a:latin typeface="微软雅黑"/>
              </a:defRPr>
            </a:pPr>
            <a:r>
              <a:t>BCrypt加密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2825496"/>
            <a:ext cx="3657600" cy="329184"/>
          </a:xfrm>
          <a:prstGeom prst="roundRect">
            <a:avLst>
              <a:gd name="adj" fmla="val 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84378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  <a:latin typeface="微软雅黑"/>
              </a:defRPr>
            </a:pPr>
            <a:r>
              <a:t>nickname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284378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B7A"/>
                </a:solidFill>
                <a:latin typeface="微软雅黑"/>
              </a:defRPr>
            </a:pPr>
            <a:r>
              <a:t>VARCHAR(50)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284378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02C3C"/>
                </a:solidFill>
                <a:latin typeface="微软雅黑"/>
              </a:defRPr>
            </a:pPr>
            <a:r>
              <a:t>昵称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3172968"/>
            <a:ext cx="3657600" cy="32918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19125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  <a:latin typeface="微软雅黑"/>
              </a:defRPr>
            </a:pPr>
            <a:r>
              <a:t>created_at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319125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B7A"/>
                </a:solidFill>
                <a:latin typeface="微软雅黑"/>
              </a:defRPr>
            </a:pPr>
            <a:r>
              <a:t>DATETIME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319125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02C3C"/>
                </a:solidFill>
                <a:latin typeface="微软雅黑"/>
              </a:defRPr>
            </a:pPr>
            <a:r>
              <a:t>创建时间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3520440"/>
            <a:ext cx="3657600" cy="329184"/>
          </a:xfrm>
          <a:prstGeom prst="roundRect">
            <a:avLst>
              <a:gd name="adj" fmla="val 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5387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  <a:latin typeface="微软雅黑"/>
              </a:defRPr>
            </a:pPr>
            <a:r>
              <a:t>updated_at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35387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B7A"/>
                </a:solidFill>
                <a:latin typeface="微软雅黑"/>
              </a:defRPr>
            </a:pPr>
            <a:r>
              <a:t>DATETIME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35387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02C3C"/>
                </a:solidFill>
                <a:latin typeface="微软雅黑"/>
              </a:defRPr>
            </a:pPr>
            <a:r>
              <a:t>更新时间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0" y="1280160"/>
            <a:ext cx="3657600" cy="457200"/>
          </a:xfrm>
          <a:prstGeom prst="roundRect">
            <a:avLst>
              <a:gd name="adj" fmla="val 3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40" y="1325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📦 帖子表 (forum_post)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0" y="1783080"/>
            <a:ext cx="3657600" cy="32918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06240" y="18013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  <a:latin typeface="微软雅黑"/>
              </a:defRPr>
            </a:pPr>
            <a:r>
              <a:t>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18013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B7A"/>
                </a:solidFill>
                <a:latin typeface="微软雅黑"/>
              </a:defRPr>
            </a:pPr>
            <a:r>
              <a:t>BIGINT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18013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02C3C"/>
                </a:solidFill>
                <a:latin typeface="微软雅黑"/>
              </a:defRPr>
            </a:pPr>
            <a:r>
              <a:t>主键, 自增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14800" y="2130552"/>
            <a:ext cx="3657600" cy="329184"/>
          </a:xfrm>
          <a:prstGeom prst="roundRect">
            <a:avLst>
              <a:gd name="adj" fmla="val 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06240" y="2148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  <a:latin typeface="微软雅黑"/>
              </a:defRPr>
            </a:pPr>
            <a:r>
              <a:t>title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21488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B7A"/>
                </a:solidFill>
                <a:latin typeface="微软雅黑"/>
              </a:defRPr>
            </a:pPr>
            <a:r>
              <a:t>VARCHAR(200)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21488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02C3C"/>
                </a:solidFill>
                <a:latin typeface="微软雅黑"/>
              </a:defRPr>
            </a:pPr>
            <a:r>
              <a:t>帖子标题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14800" y="2478024"/>
            <a:ext cx="3657600" cy="32918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40" y="249631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  <a:latin typeface="微软雅黑"/>
              </a:defRPr>
            </a:pPr>
            <a:r>
              <a:t>content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0" y="249631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B7A"/>
                </a:solidFill>
                <a:latin typeface="微软雅黑"/>
              </a:defRPr>
            </a:pPr>
            <a:r>
              <a:t>TEXT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24963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02C3C"/>
                </a:solidFill>
                <a:latin typeface="微软雅黑"/>
              </a:defRPr>
            </a:pPr>
            <a:r>
              <a:t>帖子内容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14800" y="2825496"/>
            <a:ext cx="3657600" cy="329184"/>
          </a:xfrm>
          <a:prstGeom prst="roundRect">
            <a:avLst>
              <a:gd name="adj" fmla="val 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06240" y="284378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  <a:latin typeface="微软雅黑"/>
              </a:defRPr>
            </a:pPr>
            <a:r>
              <a:t>section_id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0" y="284378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B7A"/>
                </a:solidFill>
                <a:latin typeface="微软雅黑"/>
              </a:defRPr>
            </a:pPr>
            <a:r>
              <a:t>BIGINT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284378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02C3C"/>
                </a:solidFill>
                <a:latin typeface="微软雅黑"/>
              </a:defRPr>
            </a:pPr>
            <a:r>
              <a:t>外键→forum_section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14800" y="3172968"/>
            <a:ext cx="3657600" cy="32918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06240" y="319125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  <a:latin typeface="微软雅黑"/>
              </a:defRPr>
            </a:pPr>
            <a:r>
              <a:t>author_id/name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0" y="319125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B7A"/>
                </a:solidFill>
                <a:latin typeface="微软雅黑"/>
              </a:defRPr>
            </a:pPr>
            <a:r>
              <a:t>BIGINT/VARCHAR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319125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02C3C"/>
                </a:solidFill>
                <a:latin typeface="微软雅黑"/>
              </a:defRPr>
            </a:pPr>
            <a:r>
              <a:t>作者信息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114800" y="3520440"/>
            <a:ext cx="3657600" cy="329184"/>
          </a:xfrm>
          <a:prstGeom prst="roundRect">
            <a:avLst>
              <a:gd name="adj" fmla="val 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06240" y="35387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  <a:latin typeface="微软雅黑"/>
              </a:defRPr>
            </a:pPr>
            <a:r>
              <a:t>like_count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0" y="35387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B7A"/>
                </a:solidFill>
                <a:latin typeface="微软雅黑"/>
              </a:defRPr>
            </a:pPr>
            <a:r>
              <a:t>INT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35387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02C3C"/>
                </a:solidFill>
                <a:latin typeface="微软雅黑"/>
              </a:defRPr>
            </a:pPr>
            <a:r>
              <a:t>点赞计数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955279" y="1280160"/>
            <a:ext cx="3657600" cy="457200"/>
          </a:xfrm>
          <a:prstGeom prst="roundRect">
            <a:avLst>
              <a:gd name="adj" fmla="val 3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46719" y="1325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📦 评论表 (post_comment)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955279" y="1783080"/>
            <a:ext cx="3657600" cy="32918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9" y="18013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  <a:latin typeface="微软雅黑"/>
              </a:defRPr>
            </a:pPr>
            <a:r>
              <a:t>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26879" y="18013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B7A"/>
                </a:solidFill>
                <a:latin typeface="微软雅黑"/>
              </a:defRPr>
            </a:pPr>
            <a:r>
              <a:t>BIGINT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32719" y="18013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02C3C"/>
                </a:solidFill>
                <a:latin typeface="微软雅黑"/>
              </a:defRPr>
            </a:pPr>
            <a:r>
              <a:t>主键, 自增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955279" y="2130552"/>
            <a:ext cx="3657600" cy="329184"/>
          </a:xfrm>
          <a:prstGeom prst="roundRect">
            <a:avLst>
              <a:gd name="adj" fmla="val 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046719" y="2148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  <a:latin typeface="微软雅黑"/>
              </a:defRPr>
            </a:pPr>
            <a:r>
              <a:t>content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26879" y="21488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B7A"/>
                </a:solidFill>
                <a:latin typeface="微软雅黑"/>
              </a:defRPr>
            </a:pPr>
            <a:r>
              <a:t>TEXT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332719" y="21488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02C3C"/>
                </a:solidFill>
                <a:latin typeface="微软雅黑"/>
              </a:defRPr>
            </a:pPr>
            <a:r>
              <a:t>评论内容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955279" y="2478024"/>
            <a:ext cx="3657600" cy="32918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46719" y="249631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  <a:latin typeface="微软雅黑"/>
              </a:defRPr>
            </a:pPr>
            <a:r>
              <a:t>post_id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26879" y="249631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B7A"/>
                </a:solidFill>
                <a:latin typeface="微软雅黑"/>
              </a:defRPr>
            </a:pPr>
            <a:r>
              <a:t>BIGINT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32719" y="24963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02C3C"/>
                </a:solidFill>
                <a:latin typeface="微软雅黑"/>
              </a:defRPr>
            </a:pPr>
            <a:r>
              <a:t>外键→forum_post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955279" y="2825496"/>
            <a:ext cx="3657600" cy="329184"/>
          </a:xfrm>
          <a:prstGeom prst="roundRect">
            <a:avLst>
              <a:gd name="adj" fmla="val 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046719" y="284378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  <a:latin typeface="微软雅黑"/>
              </a:defRPr>
            </a:pPr>
            <a:r>
              <a:t>parent_id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26879" y="284378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B7A"/>
                </a:solidFill>
                <a:latin typeface="微软雅黑"/>
              </a:defRPr>
            </a:pPr>
            <a:r>
              <a:t>BIGINT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332719" y="284378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02C3C"/>
                </a:solidFill>
                <a:latin typeface="微软雅黑"/>
              </a:defRPr>
            </a:pPr>
            <a:r>
              <a:t>父评论(二级)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955279" y="3172968"/>
            <a:ext cx="3657600" cy="32918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046719" y="319125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  <a:latin typeface="微软雅黑"/>
              </a:defRPr>
            </a:pPr>
            <a:r>
              <a:t>author_id/name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326879" y="319125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B7A"/>
                </a:solidFill>
                <a:latin typeface="微软雅黑"/>
              </a:defRPr>
            </a:pPr>
            <a:r>
              <a:t>BIGINT/VARCHAR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332719" y="319125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02C3C"/>
                </a:solidFill>
                <a:latin typeface="微软雅黑"/>
              </a:defRPr>
            </a:pPr>
            <a:r>
              <a:t>评论作者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955279" y="3520440"/>
            <a:ext cx="3657600" cy="329184"/>
          </a:xfrm>
          <a:prstGeom prst="roundRect">
            <a:avLst>
              <a:gd name="adj" fmla="val 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046719" y="35387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  <a:latin typeface="微软雅黑"/>
              </a:defRPr>
            </a:pPr>
            <a:r>
              <a:t>created/updated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326879" y="35387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B7A"/>
                </a:solidFill>
                <a:latin typeface="微软雅黑"/>
              </a:defRPr>
            </a:pPr>
            <a:r>
              <a:t>DATETIME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332719" y="35387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02C3C"/>
                </a:solidFill>
                <a:latin typeface="微软雅黑"/>
              </a:defRPr>
            </a:pPr>
            <a:r>
              <a:t>时间戳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74320" y="4023360"/>
            <a:ext cx="347472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274320" y="4023360"/>
            <a:ext cx="54864" cy="2286000"/>
          </a:xfrm>
          <a:prstGeom prst="roundRect">
            <a:avLst>
              <a:gd name="adj" fmla="val 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48640" y="4160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微软雅黑"/>
              </a:defRPr>
            </a:pPr>
            <a:r>
              <a:t>📦 其他数据表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" y="452628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forum_section — 论坛分区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· id, name, description, sort_order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post_like — 点赞记录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· id, post_id, user_id (唯一约束)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notification_message — 通知消息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· id, title, content, type, target_user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· is_read, created_at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114800" y="402336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4114800" y="4023360"/>
            <a:ext cx="54864" cy="2286000"/>
          </a:xfrm>
          <a:prstGeom prst="roundRect">
            <a:avLst>
              <a:gd name="adj" fmla="val 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389120" y="4160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53935"/>
                </a:solidFill>
                <a:latin typeface="微软雅黑"/>
              </a:defRPr>
            </a:pPr>
            <a:r>
              <a:t>🔗 Redis 数据结构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389120" y="45262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auth:session:{sessionId}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→ 用户会话信息(JWT签发校验)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auth:login:fail:{username}:{ip}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→ 登录失败计数(防暴力破解)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forum:post:list::*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→ 帖子列表缓存(TTL=2min)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forum:post:detail::*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→ 帖子详情缓存(TTL=5min)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046720" y="402336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8046720" y="4023360"/>
            <a:ext cx="54864" cy="2286000"/>
          </a:xfrm>
          <a:prstGeom prst="roundRect">
            <a:avLst>
              <a:gd name="adj" fmla="val 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321040" y="4160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A853"/>
                </a:solidFill>
                <a:latin typeface="微软雅黑"/>
              </a:defRPr>
            </a:pPr>
            <a:r>
              <a:t>🔒 安全机制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321040" y="45262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密码存储: BCrypt 单向散列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令牌: JWT Access + Refresh 双令牌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会话: Redis 集中管理, 登出即失效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网关: 统一 JWT 校验 + 路径白名单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锁定: 登录失败N次后短时锁定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权限: 帖子仅作者可编辑/删除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>
              <a:gd name="adj" fmla="val 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03 系统设计与架构 — 关键技术选型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D5FD"/>
                </a:solidFill>
                <a:latin typeface="微软雅黑"/>
              </a:defRPr>
            </a:pPr>
            <a:r>
              <a:t>Technology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微软雅黑"/>
              </a:defRPr>
            </a:p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80160"/>
          <a:ext cx="1143000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技术领域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本项目选型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对比方案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选型理由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后端框架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Spring Boot 3.2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Django / Express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Java生态成熟, Spring Cloud微服务生态完善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微服务治理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Spring Cloud Alibaba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Dubbo / gRPC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Nacos集成注册+配置, 与Gateway无缝衔接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API网关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Spring Cloud Gateway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Nginx / Kong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原生支持服务发现, 与JWT Filter深度集成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前端框架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Vue 3 + TypeScript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React / Angular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组合式API, 生态轻量, 双端复用路由设计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PC端UI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Element Plus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Ant Design Vue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组件丰富, 文档完善, 社区活跃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移动端UI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Vant 4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uni-app / Ionic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Vue3原生适配, 轻量高性能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数据库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MySQL 8.4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PostgreSQL / MongoDB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事务支持完善, 运维成本低, JPA兼容性好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缓存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Redis 7.4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Memcached / Caffeine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支持多数据结构, 兼顾会话管理与数据缓存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认证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JWT + Spring Security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OAuth2 / Session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无状态令牌+Redis会话=安全与性能兼顾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服务注册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Nacos 2.3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Eureka / Consul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支持注册发现+配置管理, 阿里生态维护活跃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>
              <a:gd name="adj" fmla="val 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04 实现与关键技术 — 认证与网关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D5FD"/>
                </a:solidFill>
                <a:latin typeface="微软雅黑"/>
              </a:defRPr>
            </a:pPr>
            <a:r>
              <a:t>Authentication &amp; Gateway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微软雅黑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566928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4864" cy="5029200"/>
          </a:xfrm>
          <a:prstGeom prst="roundRect">
            <a:avLst>
              <a:gd name="adj" fmla="val 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微软雅黑"/>
              </a:defRPr>
            </a:pPr>
            <a:r>
              <a:t>🔐 JWT 双令牌认证流程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1. 用户提交 username + password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2. auth-service 验证 → 签发 Access Token (短期)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                   + Refresh Token (长期)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3. Redis 写入 session: auth:session:{sid}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4. 客户端携带 Bearer Token 访问受保护接口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5. Gateway JwtRelayFilter 校验: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 · JWT签名有效性 + 类型(access)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 · Redis session存在性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 · 提取 userId/username → X-User-Id/X-Username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6. 下游服务通过请求头获取用户身份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Refresh 流程: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 · Access过期 → 前端401拦截器自动调用 /refresh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 · 验证Refresh Token → 签发新Access Token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 · 并发请求通过 pending queue 避免重复刷新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Logout 流程: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 · 调用 /logout → Redis 删除 session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 · 网关拦截后续请求(session不存在) → 401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8016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280160"/>
            <a:ext cx="54864" cy="2286000"/>
          </a:xfrm>
          <a:prstGeom prst="roundRect">
            <a:avLst>
              <a:gd name="adj" fmla="val 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A853"/>
                </a:solidFill>
                <a:latin typeface="微软雅黑"/>
              </a:defRPr>
            </a:pPr>
            <a:r>
              <a:t>🌐 网关路由配置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7830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/api/auth/**   → auth-user-service (StripPrefix=1)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/api/users/**  → auth-user-service (StripPrefix=1)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/api/forum/**  → forum-service (StripPrefix=2)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/api/notifications/** → notification-service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/api/media/**  → media-service (StripPrefix=1)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/api/search/** → search-service (StripPrefix=1)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840480"/>
            <a:ext cx="548640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3840480"/>
            <a:ext cx="54864" cy="2468880"/>
          </a:xfrm>
          <a:prstGeom prst="roundRect">
            <a:avLst>
              <a:gd name="adj" fmla="val 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977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53935"/>
                </a:solidFill>
                <a:latin typeface="微软雅黑"/>
              </a:defRPr>
            </a:pPr>
            <a:r>
              <a:t>🛡️ 安全策略伪代码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3434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function JwtRelayFilter(request):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if path in PUBLIC_PATHS: forward()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token = extractBearer(request)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claims = jwt.verify(token, SECRET)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assert claims.type == 'access'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session = redis.get('auth:session:' + claims.sid)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assert session != null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request.addHeader('X-User-Id', claims.uid)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forward(request)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>
              <a:gd name="adj" fmla="val 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04 实现与关键技术 — 论坛核心与缓存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D5FD"/>
                </a:solidFill>
                <a:latin typeface="微软雅黑"/>
              </a:defRPr>
            </a:pPr>
            <a:r>
              <a:t>Forum Core &amp; Cache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微软雅黑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566928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4864" cy="2743200"/>
          </a:xfrm>
          <a:prstGeom prst="roundRect">
            <a:avLst>
              <a:gd name="adj" fmla="val 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微软雅黑"/>
              </a:defRPr>
            </a:pPr>
            <a:r>
              <a:t>📝 论坛核心功能伪代码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212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// 发帖流程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function createPost(request, user):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validate(request.title, request.content)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section = sectionRepo.findById(request.sectionId)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post = new ForumPost(title, content, section, user)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postRepo.save(post)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cacheEvict('forum:post:list')  // 清除列表缓存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return post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// 二级评论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function addComment(postId, request, user):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post = postRepo.findById(postId)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comment = new PostComment(content, post, user)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if request.parentId: comment.parent = parentComment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commentRepo.save(comment)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8016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280160"/>
            <a:ext cx="54864" cy="2743200"/>
          </a:xfrm>
          <a:prstGeom prst="roundRect">
            <a:avLst>
              <a:gd name="adj" fmla="val 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A853"/>
                </a:solidFill>
                <a:latin typeface="微软雅黑"/>
              </a:defRPr>
            </a:pPr>
            <a:r>
              <a:t>⚡ Redis 缓存策略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78308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缓存机制: Spring Cache + RedisCacheManager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@Cacheable('forum:post:list')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function listPosts(page, size, sectionId):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// 首次请求: 查DB → 写Redis (TTL=2min)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// 后续请求: 直接从Redis读取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return postRepo.findAll(pageable)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@CacheEvict('forum:post:list', allEntries=true)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function createPost(...)  // 写操作清除缓存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序列化: GenericJackson2Json (支持泛型反序列化)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TTL 配置: list=2min, detail=5min, default=10min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297680"/>
            <a:ext cx="566928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5760" y="4297680"/>
            <a:ext cx="54864" cy="2011680"/>
          </a:xfrm>
          <a:prstGeom prst="roundRect">
            <a:avLst>
              <a:gd name="adj" fmla="val 0"/>
            </a:avLst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4348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8C00"/>
                </a:solidFill>
                <a:latin typeface="微软雅黑"/>
              </a:defRPr>
            </a:pPr>
            <a:r>
              <a:t>💡 难点与解决方案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0060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① 并发点赞去重 → 数据库唯一约束(post_id+user_id)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 + 业务层异常捕获返回友好提示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② 双端认证一致性 → 前端Axios 401拦截器 + pending queue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 单次刷新 + 并发请求排队重试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③ 缓存一致性 → 写操作主动 @CacheEvict + 短TTL兜底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④ 服务间调用 → OpenFeign声明式客户端(search→forum)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4297680"/>
            <a:ext cx="54864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9360" y="4297680"/>
            <a:ext cx="54864" cy="2011680"/>
          </a:xfrm>
          <a:prstGeom prst="roundRect">
            <a:avLst>
              <a:gd name="adj" fmla="val 0"/>
            </a:avLst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434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C27B0"/>
                </a:solidFill>
                <a:latin typeface="微软雅黑"/>
              </a:defRPr>
            </a:pPr>
            <a:r>
              <a:t>🔧 开发工具链（技术栈）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8006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语言: Java 17 / TypeScript 5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构建: Maven 3.9 / Vite 5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容器: Docker Compose (MySQL+Redis+Nacos)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IDE: IntelliJ IDEA / VS Code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版本控制: Git + GitHub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测试: Python自动化回归 + 缓存基准脚本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>
              <a:gd name="adj" fmla="val 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04 实现与关键技术 — 双端前端实现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D5FD"/>
                </a:solidFill>
                <a:latin typeface="微软雅黑"/>
              </a:defRPr>
            </a:pPr>
            <a:r>
              <a:t>Dual-End Frontend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微软雅黑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566928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4864" cy="5029200"/>
          </a:xfrm>
          <a:prstGeom prst="roundRect">
            <a:avLst>
              <a:gd name="adj" fmla="val 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微软雅黑"/>
              </a:defRPr>
            </a:pPr>
            <a:r>
              <a:t>🖥️ PC端 (Vue3 + Element Plus)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路由: 6个页面 (登录/帖子列表/详情/发帖/个人/通知)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帖子列表页: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· 分区筛选下拉 + 关键词搜索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· 分页控制 (5/10/20条切换)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· 侧边栏: 通知摘要 + 音乐/书籍推荐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帖子详情页: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· 帖子内容 + 点赞按钮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· 评论列表 (支持二级回复)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认证流程: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· 顶部导航栏显示用户名/登录按钮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· localStorage 持久化 (forum_pc_*)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· 401自动刷新 + 登出状态同步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状态管理: Pinia (仅auth store, 其余为组件状态)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80160"/>
            <a:ext cx="548640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280160"/>
            <a:ext cx="54864" cy="5029200"/>
          </a:xfrm>
          <a:prstGeom prst="roundRect">
            <a:avLst>
              <a:gd name="adj" fmla="val 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A853"/>
                </a:solidFill>
                <a:latin typeface="微软雅黑"/>
              </a:defRPr>
            </a:pPr>
            <a:r>
              <a:t>📱 移动端 (Vue3 + Vant 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78308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路由: 相同6个页面, 适配移动端布局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交互差异: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· NavBar导航替代顶部菜单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· Cell组件展示帖子列表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· 底部区域评论输入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· 个人页集成登出 + 通知入口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统一API层: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· 相同的 api/ 模块 (auth/forum/notification/media)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· 相同的 axios 实例 + 拦截器逻辑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· 不同的 localStorage 前缀 (forum_mobile_*)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  → 双端可同域运行不冲突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共通设计: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· 加载态 / 空状态 / 错误重试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· 公共浏览无需登录 (列表/详情)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· 写操作路由守卫 (无token → /login)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>
              <a:gd name="adj" fmla="val 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05 系统测试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D5FD"/>
                </a:solidFill>
                <a:latin typeface="微软雅黑"/>
              </a:defRPr>
            </a:pPr>
            <a:r>
              <a:t>System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微软雅黑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4864" cy="2743200"/>
          </a:xfrm>
          <a:prstGeom prst="roundRect">
            <a:avLst>
              <a:gd name="adj" fmla="val 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A853"/>
                </a:solidFill>
                <a:latin typeface="微软雅黑"/>
              </a:defRPr>
            </a:pPr>
            <a:r>
              <a:t>🧪 自动化回归测试 (12项场景)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✅ 分区读取验证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✅ 双用户注册登录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✅ 发帖 → 评论 → 搜索 全链路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✅ 通知与推荐模块接口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✅ 我的通知读取与已读标记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✅ 无Token写操作拦截 (401)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✅ 无权限操作拦截 (403)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✅ 并发重复点赞稳定性 (去重)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✅ 登出后会话立即失效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✅ Refresh Token 续签流程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✅ Token 过期拦截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通过率: 100% (所有场景全部通过)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0" y="1280160"/>
          <a:ext cx="576072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测试指标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测试结果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帖子列表冷请求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~22-31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首次请求(无缓存)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帖子列表热请求均值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~4-5 ms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后续请求(Redis缓存)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热请求 P95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~5-6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95%请求在此延迟内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缓存提升比例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81-85%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相对冷请求提升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回归测试通过率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12项场景全部通过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异常场景通过率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02C3C"/>
                          </a:solidFill>
                          <a:latin typeface="微软雅黑"/>
                        </a:defRPr>
                      </a:pPr>
                      <a:r>
                        <a:t>6项异常场景全部通过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65760" y="4297680"/>
            <a:ext cx="1133856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" y="4297680"/>
            <a:ext cx="54864" cy="2011680"/>
          </a:xfrm>
          <a:prstGeom prst="roundRect">
            <a:avLst>
              <a:gd name="adj" fmla="val 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微软雅黑"/>
              </a:defRPr>
            </a:pPr>
            <a:r>
              <a:t>📋 测试策略总结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0060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• 测试方式: Python自动化脚本 (run_system_regression.py) + 缓存基准脚本 (benchmark_forum_cache.py)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• 覆盖范围: 全链路功能回归 + 异常场景 + 性能基准 + 并发稳定性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• 可复现性: 一键执行 (generate-test-reports.sh), 报告自动生成为Markdown文档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• 运维闭环: 启动脚本 → 验活检查 → 回归测试 → 报告产物, 全流程可重复执行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>
              <a:gd name="adj" fmla="val 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06 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D5FD"/>
                </a:solidFill>
                <a:latin typeface="微软雅黑"/>
              </a:defRPr>
            </a:pPr>
            <a:r>
              <a:t>Summary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微软雅黑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548640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4864" cy="2926080"/>
          </a:xfrm>
          <a:prstGeom prst="roundRect">
            <a:avLst>
              <a:gd name="adj" fmla="val 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A853"/>
                </a:solidFill>
                <a:latin typeface="微软雅黑"/>
              </a:defRPr>
            </a:pPr>
            <a:r>
              <a:t>🏆 核心研究成果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① 完成了基于微服务架构的论坛系统设计与实现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 · 6个微服务独立部署, 职责清晰, 松耦合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 · 网关统一接入, Nacos注册发现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② 实现了PC+移动双端协同的前端系统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 · 统一API设计, 一致的认证与交互体验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 · Vue3 + Element Plus / Vant 技术栈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③ 建立了可复现的工程验证体系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 · 自动化回归+缓存基准+一键启停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 · 测试通过率100%, 缓存提升80%+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280160"/>
            <a:ext cx="548640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6480" y="1280160"/>
            <a:ext cx="54864" cy="2926080"/>
          </a:xfrm>
          <a:prstGeom prst="roundRect">
            <a:avLst>
              <a:gd name="adj" fmla="val 0"/>
            </a:avLst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8C00"/>
                </a:solidFill>
                <a:latin typeface="微软雅黑"/>
              </a:defRPr>
            </a:pPr>
            <a:r>
              <a:t>⚠️ 局限性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• 搜索功能基于内存过滤, 未引入全文搜索引擎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(如Elasticsearch), 大数据量下效率受限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• 媒体推荐为静态数据, 未接入推荐算法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• 系统未做高可用集群部署验证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  (单实例部署, 未验证分布式容灾)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• 前端edit/delete功能API已就绪但UI未完整接入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• 未引入CI/CD自动化流水线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48056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5760" y="4480560"/>
            <a:ext cx="54864" cy="1828800"/>
          </a:xfrm>
          <a:prstGeom prst="roundRect">
            <a:avLst>
              <a:gd name="adj" fmla="val 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617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微软雅黑"/>
              </a:defRPr>
            </a:pPr>
            <a:r>
              <a:t>🚀 未来优化方向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① 引入 Elasticsearch 实现全文搜索 + 高亮 + 权重排序 → 提升大规模内容检索效率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② 接入推荐算法（协同过滤/内容匹配）→ 实现个性化内容推荐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③ 多实例部署 + Kubernetes编排 → 实现高可用与弹性扩缩容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④ 引入消息队列（RocketMQ/Kafka）→ 异步通知、服务解耦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202C3C"/>
                </a:solidFill>
                <a:latin typeface="微软雅黑"/>
              </a:defRPr>
            </a:pPr>
            <a:r>
              <a:t>⑤ 前端 SSR + PWA → 提升首屏性能和移动端离线体验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感谢各位老师的指导与聆听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D5FD"/>
                </a:solidFill>
                <a:latin typeface="微软雅黑"/>
              </a:defRPr>
            </a:pPr>
            <a:r>
              <a:t>恳请各位老师批评指正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4572000"/>
            <a:ext cx="3017520" cy="27432"/>
          </a:xfrm>
          <a:prstGeom prst="rect">
            <a:avLst/>
          </a:prstGeom>
          <a:solidFill>
            <a:srgbClr val="BBD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4846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D5FD"/>
                </a:solidFill>
                <a:latin typeface="微软雅黑"/>
              </a:defRPr>
            </a:pPr>
            <a:r>
              <a:t>答辩人：XXX　　指导教师：XXX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5303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D5FD"/>
                </a:solidFill>
                <a:latin typeface="微软雅黑"/>
              </a:defRPr>
            </a:pPr>
            <a:r>
              <a:t>二〇二六年五月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