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347472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3291840"/>
            <a:ext cx="12191695" cy="365760"/>
          </a:xfrm>
          <a:prstGeom prst="roundRect">
            <a:avLst>
              <a:gd name="adj" fmla="val 0"/>
            </a:avLst>
          </a:prstGeom>
          <a:solidFill>
            <a:srgbClr val="134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7315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BD5FD"/>
                </a:solidFill>
                <a:latin typeface="微软雅黑"/>
              </a:defRPr>
            </a:pPr>
            <a:r>
              <a:t>毕业设计答辩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基于微服务架构的高校论坛系统</a:t>
            </a:r>
            <a:br/>
            <a:r>
              <a:t>设计与实现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468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BD5FD"/>
                </a:solidFill>
                <a:latin typeface="微软雅黑"/>
              </a:defRPr>
            </a:pPr>
            <a:r>
              <a:t>—— PC 端 + 移动端双端协同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40233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F6B7A"/>
                </a:solidFill>
                <a:latin typeface="微软雅黑"/>
              </a:defRPr>
            </a:pPr>
            <a:r>
              <a:t>答辩人：XXX　　学号：XXXXXXXXXX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44348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F6B7A"/>
                </a:solidFill>
                <a:latin typeface="微软雅黑"/>
              </a:defRPr>
            </a:pPr>
            <a:r>
              <a:t>指导教师：XXX 副教授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48463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F6B7A"/>
                </a:solidFill>
                <a:latin typeface="微软雅黑"/>
              </a:defRPr>
            </a:pPr>
            <a:r>
              <a:t>专业：软件工程　　学院：计算机与信息学院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57607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F6B7A"/>
                </a:solidFill>
                <a:latin typeface="微软雅黑"/>
              </a:defRPr>
            </a:pPr>
            <a:r>
              <a:t>二〇二六年五月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目 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微软雅黑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474720" cy="1463040"/>
          </a:xfrm>
          <a:prstGeom prst="roundRect">
            <a:avLst>
              <a:gd name="adj" fmla="val 5000"/>
            </a:avLst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1691640"/>
            <a:ext cx="548640" cy="548640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737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6DB"/>
                </a:solidFill>
                <a:latin typeface="微软雅黑"/>
              </a:defRPr>
            </a:pPr>
            <a:r>
              <a:t>研究背景与现状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774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F6B7A"/>
                </a:solidFill>
                <a:latin typeface="微软雅黑"/>
              </a:defRPr>
            </a:pPr>
            <a:r>
              <a:t>痛点 · 现有不足 · 研究现状 · 切入点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463040"/>
            <a:ext cx="3474720" cy="1463040"/>
          </a:xfrm>
          <a:prstGeom prst="roundRect">
            <a:avLst>
              <a:gd name="adj" fmla="val 5000"/>
            </a:avLst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17720" y="1691640"/>
            <a:ext cx="548640" cy="548640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737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6DB"/>
                </a:solidFill>
                <a:latin typeface="微软雅黑"/>
              </a:defRPr>
            </a:pPr>
            <a:r>
              <a:t>需求分析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3774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F6B7A"/>
                </a:solidFill>
                <a:latin typeface="微软雅黑"/>
              </a:defRPr>
            </a:pPr>
            <a:r>
              <a:t>8个模块 · 5维非功能 · 角色权限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463040"/>
            <a:ext cx="3474720" cy="1463040"/>
          </a:xfrm>
          <a:prstGeom prst="roundRect">
            <a:avLst>
              <a:gd name="adj" fmla="val 5000"/>
            </a:avLst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21040" y="1691640"/>
            <a:ext cx="548640" cy="548640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1737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6DB"/>
                </a:solidFill>
                <a:latin typeface="微软雅黑"/>
              </a:defRPr>
            </a:pPr>
            <a:r>
              <a:t>系统设计与架构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3774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F6B7A"/>
                </a:solidFill>
                <a:latin typeface="微软雅黑"/>
              </a:defRPr>
            </a:pPr>
            <a:r>
              <a:t>四层架构 · 7子模块 · 数据库 · 选型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200400"/>
            <a:ext cx="3474720" cy="1463040"/>
          </a:xfrm>
          <a:prstGeom prst="roundRect">
            <a:avLst>
              <a:gd name="adj" fmla="val 5000"/>
            </a:avLst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474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6DB"/>
                </a:solidFill>
                <a:latin typeface="微软雅黑"/>
              </a:defRPr>
            </a:pPr>
            <a:r>
              <a:t>实现与关键技术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114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F6B7A"/>
                </a:solidFill>
                <a:latin typeface="微软雅黑"/>
              </a:defRPr>
            </a:pPr>
            <a:r>
              <a:t>认证网关 · 论坛缓存 · 双端前端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34840" y="3200400"/>
            <a:ext cx="3474720" cy="1463040"/>
          </a:xfrm>
          <a:prstGeom prst="roundRect">
            <a:avLst>
              <a:gd name="adj" fmla="val 5000"/>
            </a:avLst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617720" y="3429000"/>
            <a:ext cx="548640" cy="548640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3474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6DB"/>
                </a:solidFill>
                <a:latin typeface="微软雅黑"/>
              </a:defRPr>
            </a:pPr>
            <a:r>
              <a:t>系统测试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4114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F6B7A"/>
                </a:solidFill>
                <a:latin typeface="微软雅黑"/>
              </a:defRPr>
            </a:pPr>
            <a:r>
              <a:t>11场景 · 22接口 · 缓存基准 · 并发负载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200400"/>
            <a:ext cx="3474720" cy="1463040"/>
          </a:xfrm>
          <a:prstGeom prst="roundRect">
            <a:avLst>
              <a:gd name="adj" fmla="val 5000"/>
            </a:avLst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21040" y="3429000"/>
            <a:ext cx="548640" cy="548640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3474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6DB"/>
                </a:solidFill>
                <a:latin typeface="微软雅黑"/>
              </a:defRPr>
            </a:pPr>
            <a:r>
              <a:t>总结与展望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114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F6B7A"/>
                </a:solidFill>
                <a:latin typeface="微软雅黑"/>
              </a:defRPr>
            </a:pPr>
            <a:r>
              <a:t>核心成果 · 存在问题 · 未来方向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01 研究背景与意义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Research Background &amp; Significance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微软雅黑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5303520" cy="2377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4864" cy="23774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微软雅黑"/>
              </a:defRPr>
            </a:pPr>
            <a:r>
              <a:t>📋 行业与社会痛点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4846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• 即时通讯中课程答疑几小时后即被新消息覆盖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• 高校论坛多为单体架构，并发瓶颈、扩展困难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• 多数仅PC端，移动端用户占比已达99.6%(CNNIC)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• 功能验证依赖手工操作，交付质量缺少量化判据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280160"/>
            <a:ext cx="5303520" cy="2377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26480" y="1280160"/>
            <a:ext cx="54864" cy="2377440"/>
          </a:xfrm>
          <a:prstGeom prst="roundRect">
            <a:avLst>
              <a:gd name="adj" fmla="val 0"/>
            </a:avLst>
          </a:prstGeom>
          <a:solidFill>
            <a:srgbClr val="FB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4173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8C00"/>
                </a:solidFill>
                <a:latin typeface="微软雅黑"/>
              </a:defRPr>
            </a:pPr>
            <a:r>
              <a:t>⚠️ 现有方案的不足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783080"/>
            <a:ext cx="4846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• 单体架构 → 前后端耦合、局部修改需全局重部署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• 仅PC端 → 移动端体验缺失(如水木BBS、未名BBS)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• 权限管理与内容审核机制不完善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• 缺乏自动化回归测试和性能测试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• 源码冗余度高，维护成本持续增加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31920"/>
            <a:ext cx="10972800" cy="2377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3931920"/>
            <a:ext cx="54864" cy="2377440"/>
          </a:xfrm>
          <a:prstGeom prst="roundRect">
            <a:avLst>
              <a:gd name="adj" fmla="val 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069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A853"/>
                </a:solidFill>
                <a:latin typeface="微软雅黑"/>
              </a:defRPr>
            </a:pPr>
            <a:r>
              <a:t>💡 课题创新点与价值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434840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① 微服务拆分（5个业务服务+网关） → 松耦合、可独立部署与扩展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② PC + 移动双端协同（Vue 3 + Element Plus / Vant） → 统一API、一致体验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③ JWT + Redis会话 + 网关统一鉴权 → 完整安全闭环（登录/刷新/登出/锁定）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④ Redis缓存层 → 帖子列表缓存命中后响应提升 80%+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⑤ 可复现测试链路 → 功能测试覆盖11场景22接口，通过率100%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01 研究现状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Related Work &amp; Research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微软雅黑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365760" y="1280160"/>
            <a:ext cx="54864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280160"/>
            <a:ext cx="54864" cy="228600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微软雅黑"/>
              </a:defRPr>
            </a:pPr>
            <a:r>
              <a:t>📜 论坛系统技术演进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早期：JSP/PHP 单体 → 前后端耦合、全局重部署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中期：前后端分离 → Spring Boot + Vue，效率改善[5]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当前：微服务架构 → 服务注册、网关路由、容器部署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趋势：Docker + K8s + Redis缓存 + MQ消息队列[6][21]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280160"/>
            <a:ext cx="54864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26480" y="1280160"/>
            <a:ext cx="54864" cy="2286000"/>
          </a:xfrm>
          <a:prstGeom prst="roundRect">
            <a:avLst>
              <a:gd name="adj" fmla="val 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4173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A853"/>
                </a:solidFill>
                <a:latin typeface="微软雅黑"/>
              </a:defRPr>
            </a:pPr>
            <a:r>
              <a:t>📚 相关研究与本文定位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78308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微服务治理: Spring Cloud体系已形成完整技术栈[6]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安全认证: Aldea等指出JWT短生命周期+最小权限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是缩小攻击面的关键手段[7]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迁移策略: Agaev指出单体→微服务需分阶段重构[20]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高校实践: 协同人员管理[8]、科研管理[9]等案例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3840480"/>
            <a:ext cx="11247120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5760" y="3840480"/>
            <a:ext cx="54864" cy="2468880"/>
          </a:xfrm>
          <a:prstGeom prst="roundRect">
            <a:avLst>
              <a:gd name="adj" fmla="val 0"/>
            </a:avLst>
          </a:prstGeom>
          <a:solidFill>
            <a:srgbClr val="FB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9776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8C00"/>
                </a:solidFill>
                <a:latin typeface="微软雅黑"/>
              </a:defRPr>
            </a:pPr>
            <a:r>
              <a:t>🎯 本文切入点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现状：论坛技术选型已从单体演进到前后端分离+微服务阶段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不足：高校场景中将微服务架构完整应用于论坛系统，并配套可量化、可复现的测试与运维体系的工程实践仍然较少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本文：在同一工程中完成从微服务拆分到双端前端适配、从认证闭环到自动化测试的完整链路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区别于：多数现有工作停留在单体框架或仅完成前后端分离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02 需求分析与目标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Requirements Analysis &amp;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微软雅黑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548640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4864" cy="274320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微软雅黑"/>
              </a:defRPr>
            </a:pPr>
            <a:r>
              <a:t>🔧 功能性需求（8个模块）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用户认证：注册/登录/令牌刷新/登出/失败锁定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帖子管理：分区浏览/发帖/编辑/删除/详情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评论互动：一级评论/二级回复/编辑/删除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点赞：去重点赞(联合唯一约束)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通知服务：系统公告/个人通知/标记已读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搜索/媒体/网关访问控制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48640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0" y="1280160"/>
            <a:ext cx="54864" cy="2743200"/>
          </a:xfrm>
          <a:prstGeom prst="roundRect">
            <a:avLst>
              <a:gd name="adj" fmla="val 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4173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A853"/>
                </a:solidFill>
                <a:latin typeface="微软雅黑"/>
              </a:defRPr>
            </a:pPr>
            <a:r>
              <a:t>📊 非功能性需求（5个维度）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78308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性能：缓存命中后毫秒级响应, 未命中≤500ms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安全：JWT双令牌(Access 24h/Refresh 7d)+失败锁定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可扩展：Nacos注册发现, 新模块即插即用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可维护：Docker Compose编排+一键启停+自动回归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兼容：PC(Element Plus)+移动(Vant), 同API网关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97680"/>
            <a:ext cx="112471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4297680"/>
            <a:ext cx="54864" cy="210312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4348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微软雅黑"/>
              </a:defRPr>
            </a:pPr>
            <a:r>
              <a:t>🎯 论文六项研究内容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0060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①后端微服务拆分(6服务+Nacos+Gateway)  ②JWT+Redis认证闭环  ③论坛核心数据建模+Redis缓存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④Vue3双端前端(Element Plus/Vant)  ⑤通知/搜索/媒体辅助服务协同  ⑥Docker+脚本+Python自动化测试体系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02 需求分析 — 用户角色与权限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User Roles &amp; Permissions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微软雅黑"/>
              </a:defRPr>
            </a:p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88720"/>
          <a:ext cx="114300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功能模块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操作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游客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注册用户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帖子管理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浏览列表/详情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帖子管理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发布帖子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❌→登录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帖子管理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编辑/删除帖子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仅作者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评论互动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浏览评论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评论互动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发表/回复评论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❌→登录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评论互动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编辑/删除评论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仅作者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点赞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对帖子点赞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❌→登录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✅(去重)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通知服务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首页通知摘要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通知服务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个人通知/标记已读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❌→登录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搜索/媒体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搜索帖子/浏览推荐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个人中心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查看账户信息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❌→登录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65760" y="5303520"/>
            <a:ext cx="11247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" y="5303520"/>
            <a:ext cx="54864" cy="109728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4406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微软雅黑"/>
              </a:defRPr>
            </a:pPr>
            <a:r>
              <a:t>💡 权限模型说明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06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系统不区分学生/教师角色，所有注册用户享有相同操作权限（简化的非RBAC模型）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编辑/删除权限取决于当前用户是否为内容作者 · 分区和公告通过种子数据初始化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03 系统设计与架构 — 整体架构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System Architecture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微软雅黑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2011680" y="1188720"/>
            <a:ext cx="3200400" cy="960120"/>
          </a:xfrm>
          <a:prstGeom prst="roundRect">
            <a:avLst>
              <a:gd name="adj" fmla="val 3000"/>
            </a:avLst>
          </a:prstGeom>
          <a:solidFill>
            <a:srgbClr val="E8F0FE"/>
          </a:solidFill>
          <a:ln w="1905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A56DB"/>
                </a:solidFill>
                <a:latin typeface="微软雅黑"/>
              </a:defRPr>
            </a:pPr>
            <a:r>
              <a:t>用户接入层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14173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02C3C"/>
                </a:solidFill>
                <a:latin typeface="微软雅黑"/>
              </a:defRPr>
            </a:pPr>
            <a:r>
              <a:t>PC端 :5173 (Vue3+Element Plus)　｜　移动端 :5174 (Vue3+Vant)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0" y="2331720"/>
            <a:ext cx="7772400" cy="960120"/>
          </a:xfrm>
          <a:prstGeom prst="roundRect">
            <a:avLst>
              <a:gd name="adj" fmla="val 3000"/>
            </a:avLst>
          </a:prstGeom>
          <a:solidFill>
            <a:srgbClr val="FEF3E2"/>
          </a:solidFill>
          <a:ln w="1905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514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FB8C00"/>
                </a:solidFill>
                <a:latin typeface="微软雅黑"/>
              </a:defRPr>
            </a:pPr>
            <a:r>
              <a:t>网关层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2560320"/>
            <a:ext cx="7223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02C3C"/>
                </a:solidFill>
                <a:latin typeface="微软雅黑"/>
              </a:defRPr>
            </a:pPr>
            <a:r>
              <a:t>Spring Cloud Gateway :8080 — 统一路由 · JWT验证 · CORS · 会话校验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3474720"/>
            <a:ext cx="7772400" cy="960120"/>
          </a:xfrm>
          <a:prstGeom prst="roundRect">
            <a:avLst>
              <a:gd name="adj" fmla="val 3000"/>
            </a:avLst>
          </a:prstGeom>
          <a:solidFill>
            <a:srgbClr val="E8F5E9"/>
          </a:solidFill>
          <a:ln w="1905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657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34A853"/>
                </a:solidFill>
                <a:latin typeface="微软雅黑"/>
              </a:defRPr>
            </a:pPr>
            <a:r>
              <a:t>业务服务层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3703320"/>
            <a:ext cx="7223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02C3C"/>
                </a:solidFill>
                <a:latin typeface="微软雅黑"/>
              </a:defRPr>
            </a:pPr>
            <a:r>
              <a:t>auth :8081　｜　forum :8082　｜　notification :8083　｜　media :8084　｜　search :8085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11680" y="4617720"/>
            <a:ext cx="7772400" cy="960120"/>
          </a:xfrm>
          <a:prstGeom prst="roundRect">
            <a:avLst>
              <a:gd name="adj" fmla="val 3000"/>
            </a:avLst>
          </a:prstGeom>
          <a:solidFill>
            <a:srgbClr val="F3E5F5"/>
          </a:solidFill>
          <a:ln w="1905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800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9C27B0"/>
                </a:solidFill>
                <a:latin typeface="微软雅黑"/>
              </a:defRPr>
            </a:pPr>
            <a:r>
              <a:t>注册/配置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4846320"/>
            <a:ext cx="7223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02C3C"/>
                </a:solidFill>
                <a:latin typeface="微软雅黑"/>
              </a:defRPr>
            </a:pPr>
            <a:r>
              <a:t>Nacos 2.3.2 :8848 — 服务注册与发现 · 配置管理 · 支持直连模式降级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11680" y="5760720"/>
            <a:ext cx="7772400" cy="960120"/>
          </a:xfrm>
          <a:prstGeom prst="roundRect">
            <a:avLst>
              <a:gd name="adj" fmla="val 3000"/>
            </a:avLst>
          </a:prstGeom>
          <a:solidFill>
            <a:srgbClr val="E3F2FD"/>
          </a:solidFill>
          <a:ln w="1905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5943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A56DB"/>
                </a:solidFill>
                <a:latin typeface="微软雅黑"/>
              </a:defRPr>
            </a:pPr>
            <a:r>
              <a:t>基础设施层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5989320"/>
            <a:ext cx="7223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02C3C"/>
                </a:solidFill>
                <a:latin typeface="微软雅黑"/>
              </a:defRPr>
            </a:pPr>
            <a:r>
              <a:t>MySQL 8.4 :3306（持久化）　｜　Redis 7.4 :6379（缓存+会话）　｜　Docker Compose编排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5760720" y="2148840"/>
            <a:ext cx="320040" cy="228600"/>
          </a:xfrm>
          <a:prstGeom prst="downArrow">
            <a:avLst/>
          </a:prstGeom>
          <a:solidFill>
            <a:srgbClr val="5F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own Arrow 21"/>
          <p:cNvSpPr/>
          <p:nvPr/>
        </p:nvSpPr>
        <p:spPr>
          <a:xfrm>
            <a:off x="5760720" y="3246120"/>
            <a:ext cx="320040" cy="228600"/>
          </a:xfrm>
          <a:prstGeom prst="downArrow">
            <a:avLst/>
          </a:prstGeom>
          <a:solidFill>
            <a:srgbClr val="5F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own Arrow 22"/>
          <p:cNvSpPr/>
          <p:nvPr/>
        </p:nvSpPr>
        <p:spPr>
          <a:xfrm>
            <a:off x="5760720" y="4389120"/>
            <a:ext cx="320040" cy="228600"/>
          </a:xfrm>
          <a:prstGeom prst="downArrow">
            <a:avLst/>
          </a:prstGeom>
          <a:solidFill>
            <a:srgbClr val="5F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wn Arrow 23"/>
          <p:cNvSpPr/>
          <p:nvPr/>
        </p:nvSpPr>
        <p:spPr>
          <a:xfrm>
            <a:off x="5760720" y="5532120"/>
            <a:ext cx="320040" cy="228600"/>
          </a:xfrm>
          <a:prstGeom prst="downArrow">
            <a:avLst/>
          </a:prstGeom>
          <a:solidFill>
            <a:srgbClr val="5F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03 系统设计与架构 — 核心模块设计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Core Module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微软雅黑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365760" y="1280160"/>
            <a:ext cx="3657600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280160"/>
            <a:ext cx="3657600" cy="502920"/>
          </a:xfrm>
          <a:prstGeom prst="roundRect">
            <a:avLst>
              <a:gd name="adj" fmla="val 4000"/>
            </a:avLst>
          </a:prstGeom>
          <a:solidFill>
            <a:srgbClr val="5F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5331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公共库 (common-lib)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745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不独立运行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ApiResponse统一封装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97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ServiceConstants全局常量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108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JWT/Redis键前缀/请求头名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1280160"/>
            <a:ext cx="3657600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06240" y="1280160"/>
            <a:ext cx="3657600" cy="502920"/>
          </a:xfrm>
          <a:prstGeom prst="roundRect">
            <a:avLst>
              <a:gd name="adj" fmla="val 400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135331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API网关 (gateway-service)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8745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端口: 8080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2860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JWT验证+Redis会话校验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697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全局CORS + 路由(lb://)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108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JwtRelayFilter身份透传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1280160"/>
            <a:ext cx="3657600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46720" y="1280160"/>
            <a:ext cx="3657600" cy="502920"/>
          </a:xfrm>
          <a:prstGeom prst="roundRect">
            <a:avLst>
              <a:gd name="adj" fmla="val 4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83880" y="135331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认证用户 (auth-user-service)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18745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端口: 8081 · 6个接口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2860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注册/登录/刷新/登出/me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2697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双令牌(Access+Refresh)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108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失败锁定(5次/600秒)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3931920"/>
            <a:ext cx="3657600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65760" y="3931920"/>
            <a:ext cx="3657600" cy="502920"/>
          </a:xfrm>
          <a:prstGeom prst="roundRect">
            <a:avLst>
              <a:gd name="adj" fmla="val 4000"/>
            </a:avLst>
          </a:prstGeom>
          <a:solidFill>
            <a:srgbClr val="FB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00507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论坛核心 (forum-service)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5262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端口: 8082 · 10个接口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9377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帖子/评论/点赞CRUD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3492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分区管理+种子数据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7607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Redis缓存(@Cacheable)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06240" y="3931920"/>
            <a:ext cx="3657600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206240" y="3931920"/>
            <a:ext cx="3657600" cy="502920"/>
          </a:xfrm>
          <a:prstGeom prst="roundRect">
            <a:avLst>
              <a:gd name="adj" fmla="val 4000"/>
            </a:avLst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43400" y="400507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通知服务 (notification-service)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45262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端口: 8083 · 3个接口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49377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ANNOUNCEMENT/USER类型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0" y="53492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已读标记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89120" y="57607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NotificationDataInitializer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46720" y="3931920"/>
            <a:ext cx="3657600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046720" y="3931920"/>
            <a:ext cx="3657600" cy="502920"/>
          </a:xfrm>
          <a:prstGeom prst="roundRect">
            <a:avLst>
              <a:gd name="adj" fmla="val 4000"/>
            </a:avLst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83880" y="400507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搜索服务 (search-service)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0" y="45262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端口: 8085 · 1个接口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49377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OpenFeign→forum-service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0" y="53492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内存过滤(title/content/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0" y="57607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  authorName/sectionName)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" y="6035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F6B7A"/>
                </a:solidFill>
                <a:latin typeface="微软雅黑"/>
              </a:defRPr>
            </a:pPr>
            <a:r>
              <a:t>※ media-service (端口8084, 2个接口): 音乐/书籍推荐, 静态内存数据, 不访问MySQL/Redis — 系统中最轻量的模块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03 系统设计与架构 — 数据库设计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Database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微软雅黑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274320" y="1280160"/>
            <a:ext cx="3657600" cy="457200"/>
          </a:xfrm>
          <a:prstGeom prst="roundRect">
            <a:avLst>
              <a:gd name="adj" fmla="val 300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258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📦 用户表 (user_account)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783080"/>
            <a:ext cx="3657600" cy="329184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80136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56DB"/>
                </a:solidFill>
                <a:latin typeface="微软雅黑"/>
              </a:defRPr>
            </a:pPr>
            <a:r>
              <a:t>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80136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F6B7A"/>
                </a:solidFill>
                <a:latin typeface="微软雅黑"/>
              </a:defRPr>
            </a:pPr>
            <a:r>
              <a:t>BIGINT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180136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02C3C"/>
                </a:solidFill>
                <a:latin typeface="微软雅黑"/>
              </a:defRPr>
            </a:pPr>
            <a:r>
              <a:t>主键, 自增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130552"/>
            <a:ext cx="3657600" cy="329184"/>
          </a:xfrm>
          <a:prstGeom prst="roundRect">
            <a:avLst>
              <a:gd name="adj" fmla="val 0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1488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56DB"/>
                </a:solidFill>
                <a:latin typeface="微软雅黑"/>
              </a:defRPr>
            </a:pPr>
            <a:r>
              <a:t>username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1488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F6B7A"/>
                </a:solidFill>
                <a:latin typeface="微软雅黑"/>
              </a:defRPr>
            </a:pPr>
            <a:r>
              <a:t>VARCHAR(64)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21488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02C3C"/>
                </a:solidFill>
                <a:latin typeface="微软雅黑"/>
              </a:defRPr>
            </a:pPr>
            <a:r>
              <a:t>非空, 唯一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2478024"/>
            <a:ext cx="3657600" cy="329184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49631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56DB"/>
                </a:solidFill>
                <a:latin typeface="微软雅黑"/>
              </a:defRPr>
            </a:pPr>
            <a:r>
              <a:t>password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249631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F6B7A"/>
                </a:solidFill>
                <a:latin typeface="微软雅黑"/>
              </a:defRPr>
            </a:pPr>
            <a:r>
              <a:t>VARCHAR(255)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249631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02C3C"/>
                </a:solidFill>
                <a:latin typeface="微软雅黑"/>
              </a:defRPr>
            </a:pPr>
            <a:r>
              <a:t>BCrypt加密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" y="2825496"/>
            <a:ext cx="3657600" cy="329184"/>
          </a:xfrm>
          <a:prstGeom prst="roundRect">
            <a:avLst>
              <a:gd name="adj" fmla="val 0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84378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56DB"/>
                </a:solidFill>
                <a:latin typeface="微软雅黑"/>
              </a:defRPr>
            </a:pPr>
            <a:r>
              <a:t>nickname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284378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F6B7A"/>
                </a:solidFill>
                <a:latin typeface="微软雅黑"/>
              </a:defRPr>
            </a:pPr>
            <a:r>
              <a:t>VARCHAR(64)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284378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02C3C"/>
                </a:solidFill>
                <a:latin typeface="微软雅黑"/>
              </a:defRPr>
            </a:pPr>
            <a:r>
              <a:t>非空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172968"/>
            <a:ext cx="3657600" cy="329184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319125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56DB"/>
                </a:solidFill>
                <a:latin typeface="微软雅黑"/>
              </a:defRPr>
            </a:pPr>
            <a:r>
              <a:t>created_at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45920" y="31912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F6B7A"/>
                </a:solidFill>
                <a:latin typeface="微软雅黑"/>
              </a:defRPr>
            </a:pPr>
            <a:r>
              <a:t>DATETIME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0" y="319125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02C3C"/>
                </a:solidFill>
                <a:latin typeface="微软雅黑"/>
              </a:defRPr>
            </a:pPr>
            <a:r>
              <a:t>注册时间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3520440"/>
            <a:ext cx="3657600" cy="329184"/>
          </a:xfrm>
          <a:prstGeom prst="roundRect">
            <a:avLst>
              <a:gd name="adj" fmla="val 0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353872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56DB"/>
                </a:solidFill>
                <a:latin typeface="微软雅黑"/>
              </a:defRPr>
            </a:pPr>
            <a:r>
              <a:t>updated_at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45920" y="353872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F6B7A"/>
                </a:solidFill>
                <a:latin typeface="微软雅黑"/>
              </a:defRPr>
            </a:pPr>
            <a:r>
              <a:t>DATETIME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51760" y="353872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02C3C"/>
                </a:solidFill>
                <a:latin typeface="微软雅黑"/>
              </a:defRPr>
            </a:pPr>
            <a:r>
              <a:t>更新时间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00" y="1280160"/>
            <a:ext cx="3657600" cy="457200"/>
          </a:xfrm>
          <a:prstGeom prst="roundRect">
            <a:avLst>
              <a:gd name="adj" fmla="val 300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06240" y="13258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📦 帖子表 (forum_post)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0" y="1783080"/>
            <a:ext cx="3657600" cy="329184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40" y="180136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56DB"/>
                </a:solidFill>
                <a:latin typeface="微软雅黑"/>
              </a:defRPr>
            </a:pPr>
            <a:r>
              <a:t>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180136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F6B7A"/>
                </a:solidFill>
                <a:latin typeface="微软雅黑"/>
              </a:defRPr>
            </a:pPr>
            <a:r>
              <a:t>BIGINT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180136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02C3C"/>
                </a:solidFill>
                <a:latin typeface="微软雅黑"/>
              </a:defRPr>
            </a:pPr>
            <a:r>
              <a:t>主键, 自增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0" y="2130552"/>
            <a:ext cx="3657600" cy="329184"/>
          </a:xfrm>
          <a:prstGeom prst="roundRect">
            <a:avLst>
              <a:gd name="adj" fmla="val 0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06240" y="21488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56DB"/>
                </a:solidFill>
                <a:latin typeface="微软雅黑"/>
              </a:defRPr>
            </a:pPr>
            <a:r>
              <a:t>title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21488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F6B7A"/>
                </a:solidFill>
                <a:latin typeface="微软雅黑"/>
              </a:defRPr>
            </a:pPr>
            <a:r>
              <a:t>VARCHAR(128)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2240" y="21488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02C3C"/>
                </a:solidFill>
                <a:latin typeface="微软雅黑"/>
              </a:defRPr>
            </a:pPr>
            <a:r>
              <a:t>帖子标题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114800" y="2478024"/>
            <a:ext cx="3657600" cy="329184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06240" y="249631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56DB"/>
                </a:solidFill>
                <a:latin typeface="微软雅黑"/>
              </a:defRPr>
            </a:pPr>
            <a:r>
              <a:t>content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0" y="249631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F6B7A"/>
                </a:solidFill>
                <a:latin typeface="微软雅黑"/>
              </a:defRPr>
            </a:pPr>
            <a:r>
              <a:t>TEXT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92240" y="249631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02C3C"/>
                </a:solidFill>
                <a:latin typeface="微软雅黑"/>
              </a:defRPr>
            </a:pPr>
            <a:r>
              <a:t>帖子正文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114800" y="2825496"/>
            <a:ext cx="3657600" cy="329184"/>
          </a:xfrm>
          <a:prstGeom prst="roundRect">
            <a:avLst>
              <a:gd name="adj" fmla="val 0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06240" y="284378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56DB"/>
                </a:solidFill>
                <a:latin typeface="微软雅黑"/>
              </a:defRPr>
            </a:pPr>
            <a:r>
              <a:t>section_id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0" y="284378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F6B7A"/>
                </a:solidFill>
                <a:latin typeface="微软雅黑"/>
              </a:defRPr>
            </a:pPr>
            <a:r>
              <a:t>BIGINT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92240" y="284378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02C3C"/>
                </a:solidFill>
                <a:latin typeface="微软雅黑"/>
              </a:defRPr>
            </a:pPr>
            <a:r>
              <a:t>所属分区ID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14800" y="3172968"/>
            <a:ext cx="3657600" cy="329184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06240" y="319125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56DB"/>
                </a:solidFill>
                <a:latin typeface="微软雅黑"/>
              </a:defRPr>
            </a:pPr>
            <a:r>
              <a:t>author_id/name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0" y="31912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F6B7A"/>
                </a:solidFill>
                <a:latin typeface="微软雅黑"/>
              </a:defRPr>
            </a:pPr>
            <a:r>
              <a:t>BIGINT/VARCHAR(64)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319125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02C3C"/>
                </a:solidFill>
                <a:latin typeface="微软雅黑"/>
              </a:defRPr>
            </a:pPr>
            <a:r>
              <a:t>作者(冗余)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114800" y="3520440"/>
            <a:ext cx="3657600" cy="329184"/>
          </a:xfrm>
          <a:prstGeom prst="roundRect">
            <a:avLst>
              <a:gd name="adj" fmla="val 0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06240" y="353872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56DB"/>
                </a:solidFill>
                <a:latin typeface="微软雅黑"/>
              </a:defRPr>
            </a:pPr>
            <a:r>
              <a:t>like_count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0" y="353872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F6B7A"/>
                </a:solidFill>
                <a:latin typeface="微软雅黑"/>
              </a:defRPr>
            </a:pPr>
            <a:r>
              <a:t>INT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92240" y="353872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02C3C"/>
                </a:solidFill>
                <a:latin typeface="微软雅黑"/>
              </a:defRPr>
            </a:pPr>
            <a:r>
              <a:t>默认0, 点赞计数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955279" y="1280160"/>
            <a:ext cx="3657600" cy="457200"/>
          </a:xfrm>
          <a:prstGeom prst="roundRect">
            <a:avLst>
              <a:gd name="adj" fmla="val 300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046719" y="13258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📦 评论表 (post_comment)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955279" y="1783080"/>
            <a:ext cx="3657600" cy="329184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046719" y="180136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56DB"/>
                </a:solidFill>
                <a:latin typeface="微软雅黑"/>
              </a:defRPr>
            </a:pPr>
            <a:r>
              <a:t>id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26879" y="180136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F6B7A"/>
                </a:solidFill>
                <a:latin typeface="微软雅黑"/>
              </a:defRPr>
            </a:pPr>
            <a:r>
              <a:t>BIGINT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32719" y="180136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02C3C"/>
                </a:solidFill>
                <a:latin typeface="微软雅黑"/>
              </a:defRPr>
            </a:pPr>
            <a:r>
              <a:t>主键, 自增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955279" y="2130552"/>
            <a:ext cx="3657600" cy="329184"/>
          </a:xfrm>
          <a:prstGeom prst="roundRect">
            <a:avLst>
              <a:gd name="adj" fmla="val 0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046719" y="21488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56DB"/>
                </a:solidFill>
                <a:latin typeface="微软雅黑"/>
              </a:defRPr>
            </a:pPr>
            <a:r>
              <a:t>content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79" y="21488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F6B7A"/>
                </a:solidFill>
                <a:latin typeface="微软雅黑"/>
              </a:defRPr>
            </a:pPr>
            <a:r>
              <a:t>TEXT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332719" y="21488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02C3C"/>
                </a:solidFill>
                <a:latin typeface="微软雅黑"/>
              </a:defRPr>
            </a:pPr>
            <a:r>
              <a:t>评论内容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955279" y="2478024"/>
            <a:ext cx="3657600" cy="329184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46719" y="249631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56DB"/>
                </a:solidFill>
                <a:latin typeface="微软雅黑"/>
              </a:defRPr>
            </a:pPr>
            <a:r>
              <a:t>post_id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326879" y="249631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F6B7A"/>
                </a:solidFill>
                <a:latin typeface="微软雅黑"/>
              </a:defRPr>
            </a:pPr>
            <a:r>
              <a:t>BIGINT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332719" y="249631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02C3C"/>
                </a:solidFill>
                <a:latin typeface="微软雅黑"/>
              </a:defRPr>
            </a:pPr>
            <a:r>
              <a:t>所属帖子ID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955279" y="2825496"/>
            <a:ext cx="3657600" cy="329184"/>
          </a:xfrm>
          <a:prstGeom prst="roundRect">
            <a:avLst>
              <a:gd name="adj" fmla="val 0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046719" y="284378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56DB"/>
                </a:solidFill>
                <a:latin typeface="微软雅黑"/>
              </a:defRPr>
            </a:pPr>
            <a:r>
              <a:t>parent_comment_id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326879" y="284378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F6B7A"/>
                </a:solidFill>
                <a:latin typeface="微软雅黑"/>
              </a:defRPr>
            </a:pPr>
            <a:r>
              <a:t>BIGINT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32719" y="284378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02C3C"/>
                </a:solidFill>
                <a:latin typeface="微软雅黑"/>
              </a:defRPr>
            </a:pPr>
            <a:r>
              <a:t>可空(二级回复)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955279" y="3172968"/>
            <a:ext cx="3657600" cy="329184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046719" y="319125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56DB"/>
                </a:solidFill>
                <a:latin typeface="微软雅黑"/>
              </a:defRPr>
            </a:pPr>
            <a:r>
              <a:t>user_id/username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326879" y="31912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F6B7A"/>
                </a:solidFill>
                <a:latin typeface="微软雅黑"/>
              </a:defRPr>
            </a:pPr>
            <a:r>
              <a:t>BIGINT/VARCHAR(64)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332719" y="319125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02C3C"/>
                </a:solidFill>
                <a:latin typeface="微软雅黑"/>
              </a:defRPr>
            </a:pPr>
            <a:r>
              <a:t>评论者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955279" y="3520440"/>
            <a:ext cx="3657600" cy="329184"/>
          </a:xfrm>
          <a:prstGeom prst="roundRect">
            <a:avLst>
              <a:gd name="adj" fmla="val 0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046719" y="353872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56DB"/>
                </a:solidFill>
                <a:latin typeface="微软雅黑"/>
              </a:defRPr>
            </a:pPr>
            <a:r>
              <a:t>created/updated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326879" y="353872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F6B7A"/>
                </a:solidFill>
                <a:latin typeface="微软雅黑"/>
              </a:defRPr>
            </a:pPr>
            <a:r>
              <a:t>DATETIME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332719" y="353872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02C3C"/>
                </a:solidFill>
                <a:latin typeface="微软雅黑"/>
              </a:defRPr>
            </a:pPr>
            <a:r>
              <a:t>时间戳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274320" y="4023360"/>
            <a:ext cx="347472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274320" y="4023360"/>
            <a:ext cx="54864" cy="228600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8640" y="41605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微软雅黑"/>
              </a:defRPr>
            </a:pPr>
            <a:r>
              <a:t>📦 其他3张表 + 设计说明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" y="4526280"/>
            <a:ext cx="3017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forum_section — 分区(种子数据初始化)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post_like — 点赞(联合唯一约束 post+user)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notification_message — 通知(ANNOUNCEMENT/USER)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⚙ 6张表满足第三范式(3NF)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⚙ forum_post冗余author_name/section_name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→ 列表查询免JOIN, 配合Redis缓存降压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114800" y="4023360"/>
            <a:ext cx="36576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4114800" y="4023360"/>
            <a:ext cx="54864" cy="2286000"/>
          </a:xfrm>
          <a:prstGeom prst="roundRect">
            <a:avLst>
              <a:gd name="adj" fmla="val 0"/>
            </a:avLst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389120" y="4160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53935"/>
                </a:solidFill>
                <a:latin typeface="微软雅黑"/>
              </a:defRPr>
            </a:pPr>
            <a:r>
              <a:t>🔗 Redis 数据结构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389120" y="45262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auth:session:{sessionId}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→ 用户会话信息(JWT签发校验)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auth:login:fail:{username}:{ip}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→ 登录失败计数(防暴力破解)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forum:post:list::*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→ 帖子列表缓存(TTL=2min)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forum:post:detail::*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→ 帖子详情缓存(TTL=5min)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8046720" y="4023360"/>
            <a:ext cx="36576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8046720" y="4023360"/>
            <a:ext cx="54864" cy="2286000"/>
          </a:xfrm>
          <a:prstGeom prst="roundRect">
            <a:avLst>
              <a:gd name="adj" fmla="val 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321040" y="4160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A853"/>
                </a:solidFill>
                <a:latin typeface="微软雅黑"/>
              </a:defRPr>
            </a:pPr>
            <a:r>
              <a:t>🔒 安全机制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321040" y="45262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密码存储: BCrypt 单向散列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令牌: JWT Access + Refresh 双令牌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会话: Redis 集中管理, 登出即失效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网关: 统一 JWT 校验 + 路径白名单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锁定: 登录失败N次后短时锁定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权限: 帖子仅作者可编辑/删除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03 系统设计与架构 — 关键技术选型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Technology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微软雅黑"/>
              </a:defRPr>
            </a:p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280160"/>
          <a:ext cx="11430000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技术领域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本项目选型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对比方案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选型理由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后端框架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Spring Boot 3.2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Django / Express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Java生态成熟, Spring Cloud微服务生态完善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微服务治理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Spring Cloud Alibaba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Dubbo / gRPC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Nacos集成注册+配置, 与Gateway无缝衔接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API网关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Spring Cloud Gateway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Nginx / Kong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原生支持服务发现, 与JWT Filter深度集成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前端框架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Vue 3 + TypeScript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React / Angular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组合式API, 生态轻量, 双端复用路由设计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PC端UI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Element Plus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Ant Design Vue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组件丰富, 文档完善, 社区活跃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移动端UI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Vant 4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uni-app / Ionic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Vue3原生适配, 轻量高性能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数据库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MySQL 8.4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PostgreSQL / MongoDB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事务支持完善, 运维成本低, JPA兼容性好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缓存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Redis 7.4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Memcached / Caffeine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支持多数据结构, 兼顾会话管理与数据缓存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认证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JWT + Spring Security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OAuth2 / Session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无状态令牌+Redis会话=安全与性能兼顾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服务注册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Nacos 2.3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Eureka / Consul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支持注册发现+配置管理, 阿里生态维护活跃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04 实现与关键技术 — 认证与网关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Authentication &amp; Gateway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微软雅黑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365760" y="1280160"/>
            <a:ext cx="5669280" cy="5029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280160"/>
            <a:ext cx="54864" cy="502920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微软雅黑"/>
              </a:defRPr>
            </a:pPr>
            <a:r>
              <a:t>🔐 JWT 双令牌认证流程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1. 用户提交 username + password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2. auth-service 验证 → 签发 Access Token (短期)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                  + Refresh Token (长期)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3. Redis 写入 session: auth:session:{sid}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4. 客户端携带 Bearer Token 访问受保护接口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5. Gateway JwtRelayFilter 校验: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· JWT签名有效性 + 类型(access)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· Redis session存在性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· 提取 userId/username → X-User-Id/X-Username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6. 下游服务通过请求头获取用户身份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Refresh 流程: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· Access过期 → 前端401拦截器自动调用 /refresh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· 验证Refresh Token → 签发新Access Token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· 并发请求通过 pending queue 避免重复刷新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Logout 流程: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· 调用 /logout → Redis 删除 session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· 网关拦截后续请求(session不存在) → 401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280160"/>
            <a:ext cx="54864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09360" y="1280160"/>
            <a:ext cx="54864" cy="2286000"/>
          </a:xfrm>
          <a:prstGeom prst="roundRect">
            <a:avLst>
              <a:gd name="adj" fmla="val 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4173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A853"/>
                </a:solidFill>
                <a:latin typeface="微软雅黑"/>
              </a:defRPr>
            </a:pPr>
            <a:r>
              <a:t>🌐 网关路由配置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78308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/api/auth/**   → auth-user-service (StripPrefix=1)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/api/users/**  → auth-user-service (StripPrefix=1)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/api/forum/**  → forum-service (StripPrefix=2)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/api/notifications/** → notification-service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/api/media/**  → media-service (StripPrefix=1)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/api/search/** → search-service (StripPrefix=1)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840480"/>
            <a:ext cx="5486400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9360" y="3840480"/>
            <a:ext cx="54864" cy="2468880"/>
          </a:xfrm>
          <a:prstGeom prst="roundRect">
            <a:avLst>
              <a:gd name="adj" fmla="val 0"/>
            </a:avLst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977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53935"/>
                </a:solidFill>
                <a:latin typeface="微软雅黑"/>
              </a:defRPr>
            </a:pPr>
            <a:r>
              <a:t>🛡️ 安全策略伪代码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3434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function JwtRelayFilter(request):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if path in PUBLIC_PATHS: forward()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token = extractBearer(request)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claims = jwt.verify(token, SECRET)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assert claims.type == 'access'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session = redis.get('auth:session:' + claims.sid)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assert session != null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request.addHeader('X-User-Id', claims.uid)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forward(request)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04 实现与关键技术 — 论坛核心与缓存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Forum Core &amp; Cache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微软雅黑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365760" y="1280160"/>
            <a:ext cx="566928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280160"/>
            <a:ext cx="54864" cy="274320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微软雅黑"/>
              </a:defRPr>
            </a:pPr>
            <a:r>
              <a:t>📝 论坛核心功能伪代码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2120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// 发帖流程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function createPost(request, user):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validate(request.title, request.content)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section = sectionRepo.findById(request.sectionId)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post = new ForumPost(title, content, section, user)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postRepo.save(post)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cacheEvict('forum:post:list')  // 清除列表缓存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return post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// 二级评论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function addComment(postId, request, user):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post = postRepo.findById(postId)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comment = new PostComment(content, post, user)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if request.parentId: comment.parent = parentComment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commentRepo.save(comment)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280160"/>
            <a:ext cx="548640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09360" y="1280160"/>
            <a:ext cx="54864" cy="2743200"/>
          </a:xfrm>
          <a:prstGeom prst="roundRect">
            <a:avLst>
              <a:gd name="adj" fmla="val 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4173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A853"/>
                </a:solidFill>
                <a:latin typeface="微软雅黑"/>
              </a:defRPr>
            </a:pPr>
            <a:r>
              <a:t>⚡ Redis 缓存策略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78308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缓存机制: Spring Cache + RedisCacheManager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@Cacheable('forum:post:list')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function listPosts(page, size, sectionId):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// 首次请求: 查DB → 写Redis (TTL=2min)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// 后续请求: 直接从Redis读取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return postRepo.findAll(pageable)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@CacheEvict('forum:post:list', allEntries=true)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function createPost(...)  // 写操作清除缓存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序列化: GenericJackson2Json (支持泛型反序列化)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TTL 配置: list=2min, detail=5min, default=10min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297680"/>
            <a:ext cx="566928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5760" y="4297680"/>
            <a:ext cx="54864" cy="2011680"/>
          </a:xfrm>
          <a:prstGeom prst="roundRect">
            <a:avLst>
              <a:gd name="adj" fmla="val 0"/>
            </a:avLst>
          </a:prstGeom>
          <a:solidFill>
            <a:srgbClr val="FB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348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8C00"/>
                </a:solidFill>
                <a:latin typeface="微软雅黑"/>
              </a:defRPr>
            </a:pPr>
            <a:r>
              <a:t>💡 难点与解决方案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00600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① 并发点赞去重 → 数据库唯一约束(post_id+user_id)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+ 业务层异常捕获返回友好提示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② 双端认证一致性 → 前端Axios 401拦截器 + pending queue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单次刷新 + 并发请求排队重试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③ 缓存一致性 → 写操作主动 @CacheEvict + 短TTL兜底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④ 服务间调用 → OpenFeign声明式客户端(search→forum)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4297680"/>
            <a:ext cx="548640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09360" y="4297680"/>
            <a:ext cx="54864" cy="2011680"/>
          </a:xfrm>
          <a:prstGeom prst="roundRect">
            <a:avLst>
              <a:gd name="adj" fmla="val 0"/>
            </a:avLst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434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C27B0"/>
                </a:solidFill>
                <a:latin typeface="微软雅黑"/>
              </a:defRPr>
            </a:pPr>
            <a:r>
              <a:t>🔧 开发环境（论文4.5节）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8006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后端: Java 17 + Spring Boot 3.2.5 + Maven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微服务: Spring Cloud 2023.0.1 + Alibaba 2023.0.1.2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前端: Vue 3.5 + Vite 5.4 + TypeScript 5.9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UI: Element Plus 2.13 / Vant 4.9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容器: Docker Compose (MySQL8.4+Redis7.4+Nacos2.3.2)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测试: Python 3 标准库(无第三方依赖)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04 实现与关键技术 — 双端前端实现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Dual-End Frontend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微软雅黑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365760" y="1280160"/>
            <a:ext cx="5669280" cy="5029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280160"/>
            <a:ext cx="54864" cy="502920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微软雅黑"/>
              </a:defRPr>
            </a:pPr>
            <a:r>
              <a:t>🖥️ PC端 (Vue3 + Element Plus)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路由: 6个页面 (登录/帖子列表/详情/发帖/个人/通知)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帖子列表页: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· 分区筛选下拉 + 关键词搜索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· 分页控制 (5/10/20条切换)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· 侧边栏: 通知摘要 + 音乐/书籍推荐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帖子详情页: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· 帖子内容 + 点赞按钮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· 评论列表 (支持二级回复)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认证流程: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· 顶部导航栏显示用户名/登录按钮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· localStorage 持久化 (forum_pc_*)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· 401自动刷新 + 登出状态同步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状态管理: Pinia (仅auth store, 其余为组件状态)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280160"/>
            <a:ext cx="5486400" cy="5029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09360" y="1280160"/>
            <a:ext cx="54864" cy="5029200"/>
          </a:xfrm>
          <a:prstGeom prst="roundRect">
            <a:avLst>
              <a:gd name="adj" fmla="val 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4173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A853"/>
                </a:solidFill>
                <a:latin typeface="微软雅黑"/>
              </a:defRPr>
            </a:pPr>
            <a:r>
              <a:t>📱 移动端 (Vue3 + Vant 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78308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路由: 相同6个页面, 适配移动端布局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交互差异: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· NavBar导航替代顶部菜单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· Cell组件展示帖子列表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· 底部区域评论输入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· 个人页集成登出 + 通知入口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统一API层: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· 相同的 api/ 模块 (auth/forum/notification/media)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· 相同的 axios 实例 + 拦截器逻辑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· 不同的 localStorage 前缀 (forum_mobile_*)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 → 双端可同域运行不冲突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共通设计: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· 加载态 / 空状态 / 错误重试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· 公共浏览无需登录 (列表/详情)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· 写操作路由守卫 (无token → /login)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05 系统测试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System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微软雅黑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365760" y="1280160"/>
            <a:ext cx="530352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280160"/>
            <a:ext cx="54864" cy="2743200"/>
          </a:xfrm>
          <a:prstGeom prst="roundRect">
            <a:avLst>
              <a:gd name="adj" fmla="val 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A853"/>
                </a:solidFill>
                <a:latin typeface="微软雅黑"/>
              </a:defRPr>
            </a:pPr>
            <a:r>
              <a:t>🧪 功能测试 (11场景 · 22接口)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✅ 1. 获取分区列表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✅ 2. 注册并登录两个用户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✅ 3. 发帖→评论→搜索 全链路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✅ 4. 通知首页与媒体首页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✅ 5. 个人通知与标记已读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✅ 6. 无Token写操作拦截 (code=4010)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✅ 7. 无权限操作拦截 (code=4031)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✅ 8. 并发重复点赞 ([0,4091])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✅ 9. 登出后会话立即失效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✅ 10. 令牌刷新流程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✅ 11. 令牌过期拦截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全部22个API接口覆盖, 通过率100%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43600" y="1280160"/>
          <a:ext cx="576072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测试指标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测试结果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说明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帖子列表冷请求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~22-31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首次请求(无缓存)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帖子列表热请求均值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~4-5 ms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后续请求(Redis缓存)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热请求 P95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~5-6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95%请求在此延迟内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缓存提升比例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81-85%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相对冷请求提升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功能测试通过率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11场景·22接口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并发负载测试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10/50/100用户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验证承载能力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65760" y="4297680"/>
            <a:ext cx="530352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" y="4297680"/>
            <a:ext cx="54864" cy="2011680"/>
          </a:xfrm>
          <a:prstGeom prst="roundRect">
            <a:avLst>
              <a:gd name="adj" fmla="val 0"/>
            </a:avLst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C27B0"/>
                </a:solidFill>
                <a:latin typeface="微软雅黑"/>
              </a:defRPr>
            </a:pPr>
            <a:r>
              <a:t>🖥️ 测试环境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0060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CPU: AMD Ryzen 7 5800H · RAM: 16GB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OS: Windows 11 (64位) · JDK 17.0.8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浏览器: Microsoft Edge 146.0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脚本: Python 3 标准库(无第三方依赖)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943600" y="4297680"/>
          <a:ext cx="57607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180"/>
                <a:gridCol w="1440180"/>
                <a:gridCol w="1440180"/>
                <a:gridCol w="1440180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模块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接口数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通过数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通过率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认证(auth)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论坛(forum)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100%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通知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搜索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100%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媒体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合计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22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22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100%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06 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Summary &amp;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微软雅黑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365760" y="1280160"/>
            <a:ext cx="548640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280160"/>
            <a:ext cx="54864" cy="2926080"/>
          </a:xfrm>
          <a:prstGeom prst="roundRect">
            <a:avLst>
              <a:gd name="adj" fmla="val 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A853"/>
                </a:solidFill>
                <a:latin typeface="微软雅黑"/>
              </a:defRPr>
            </a:pPr>
            <a:r>
              <a:t>🏆 核心研究成果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① 微服务架构设计与拆分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· 5个业务服务+网关+common-lib, 四层架构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· JWT+Redis双重鉴权, 登录失败锁定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② 论坛核心业务 + 双端前端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· 6张表, @Cacheable缓存, 点赞联合唯一约束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· Vue3双端共享API层, 401静默刷新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③ 可复现的工程验证体系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· 11场景22接口功能测试, 通过率100%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· 缓存基准+并发负载+Docker一键启停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280160"/>
            <a:ext cx="548640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26480" y="1280160"/>
            <a:ext cx="54864" cy="2926080"/>
          </a:xfrm>
          <a:prstGeom prst="roundRect">
            <a:avLst>
              <a:gd name="adj" fmla="val 0"/>
            </a:avLst>
          </a:prstGeom>
          <a:solidFill>
            <a:srgbClr val="FB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4173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8C00"/>
                </a:solidFill>
                <a:latin typeface="微软雅黑"/>
              </a:defRPr>
            </a:pPr>
            <a:r>
              <a:t>⚠️ 存在的问题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7830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① 搜索服务基于内存遍历+contains匹配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帖子增长后效率下降, 不支持分词和相关度排序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② 日志采集与监控机制尚未建立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仅Spring Boot默认控制台日志, 缺乏统一收集平台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③ 部署架构未在云环境下生产级验证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全部测试在本地单机完成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④ 安全测试和单元测试覆盖度有提升空间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480560"/>
            <a:ext cx="1124712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5760" y="4480560"/>
            <a:ext cx="54864" cy="182880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6177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微软雅黑"/>
              </a:defRPr>
            </a:pPr>
            <a:r>
              <a:t>🚀 未来优化方向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98348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① 引入 Elasticsearch 全文搜索 → 倒排索引+分词分析器, 提升检索精度和速度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② ELK日志采集栈 + 链路追踪 → 实现分布式系统可观测性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③ Kubernetes集群部署 + CDN → 弹性伸缩、滚动更新、静态资源加速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④ OWASP ZAP安全扫描 + JUnit单元测试 → 完善质量保障体系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8288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微软雅黑"/>
              </a:defRPr>
            </a:pPr>
            <a:r>
              <a:t>感谢各位老师的指导与聆听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474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BBD5FD"/>
                </a:solidFill>
                <a:latin typeface="微软雅黑"/>
              </a:defRPr>
            </a:pPr>
            <a:r>
              <a:t>恳请各位老师批评指正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4572000"/>
            <a:ext cx="3017520" cy="27432"/>
          </a:xfrm>
          <a:prstGeom prst="rect">
            <a:avLst/>
          </a:prstGeom>
          <a:solidFill>
            <a:srgbClr val="BBD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0" y="4846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BD5FD"/>
                </a:solidFill>
                <a:latin typeface="微软雅黑"/>
              </a:defRPr>
            </a:pPr>
            <a:r>
              <a:t>答辩人：XXX　　指导教师：XXX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5303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二〇二六年五月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