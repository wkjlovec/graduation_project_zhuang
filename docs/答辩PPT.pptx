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基于微服务架构的高校论坛系统设计与实现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</a:defRPr>
            </a:pPr>
            <a:r>
              <a:t>Design and Implementation of a University Forum System Based on Microservice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47472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姓名：________    学号：________</a:t>
            </a:r>
          </a:p>
          <a:p>
            <a:pPr algn="ctr">
              <a:spcBef>
                <a:spcPts val="1200"/>
              </a:spcBef>
              <a:defRPr sz="2000" b="0">
                <a:solidFill>
                  <a:srgbClr val="FFFFFF"/>
                </a:solidFill>
              </a:defRPr>
            </a:pPr>
            <a:r>
              <a:t>导师：汪红松</a:t>
            </a:r>
          </a:p>
          <a:p>
            <a:pPr algn="ctr">
              <a:spcBef>
                <a:spcPts val="1200"/>
              </a:spcBef>
              <a:defRPr sz="2000" b="0">
                <a:solidFill>
                  <a:srgbClr val="FFFFFF"/>
                </a:solidFill>
              </a:defRPr>
            </a:pPr>
            <a:r>
              <a:t>华南师范大学 · 软件学院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66928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BBDD"/>
                </a:solidFill>
              </a:defRPr>
            </a:pPr>
            <a:r>
              <a:t>“针对高校论坛单体架构扩展性不足、缺乏移动端适配和自动化测试的问题，设计并实现一套基于 Spring Cloud 的微服务论坛系统”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5C"/>
                </a:solidFill>
              </a:defRPr>
            </a:pPr>
            <a:r>
              <a:t>研究背景与创新点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303520" cy="45720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现有高校论坛的三个痛点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❶ 单体架构耦合：局部修改需全局重新部署，扩展困难</a:t>
            </a:r>
          </a:p>
          <a:p>
            <a:pPr algn="l">
              <a:spcBef>
                <a:spcPts val="1600"/>
              </a:spcBef>
              <a:defRPr sz="1600" b="0">
                <a:solidFill>
                  <a:srgbClr val="222222"/>
                </a:solidFill>
              </a:defRPr>
            </a:pPr>
            <a:r>
              <a:t>❷ 缺乏移动端：仅有 PC 页面，CNNIC 报告显示手机上网 99.6%</a:t>
            </a:r>
          </a:p>
          <a:p>
            <a:pPr algn="l">
              <a:spcBef>
                <a:spcPts val="1600"/>
              </a:spcBef>
              <a:defRPr sz="1600" b="0">
                <a:solidFill>
                  <a:srgbClr val="222222"/>
                </a:solidFill>
              </a:defRPr>
            </a:pPr>
            <a:r>
              <a:t>❸ 手工测试：功能验证依赖人工点击，缺少可量化判据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本文的三个创新点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① 微服务架构完整落地：Nacos + Gateway + OpenFeign</a:t>
            </a:r>
          </a:p>
          <a:p>
            <a:pPr algn="l">
              <a:spcBef>
                <a:spcPts val="1600"/>
              </a:spcBef>
              <a:defRPr sz="1600" b="0">
                <a:solidFill>
                  <a:srgbClr val="222222"/>
                </a:solidFill>
              </a:defRPr>
            </a:pPr>
            <a:r>
              <a:t>② JWT + Redis 混合认证：令牌主动撤销 + 前端静默刷新</a:t>
            </a:r>
          </a:p>
          <a:p>
            <a:pPr algn="l">
              <a:spcBef>
                <a:spcPts val="1600"/>
              </a:spcBef>
              <a:defRPr sz="1600" b="0">
                <a:solidFill>
                  <a:srgbClr val="222222"/>
                </a:solidFill>
              </a:defRPr>
            </a:pPr>
            <a:r>
              <a:t>③ 三套自动化测试：功能回归 / 缓存基准 / 并发负载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5C"/>
                </a:solidFill>
              </a:defRPr>
            </a:pPr>
            <a:r>
              <a:t>需求分析与技术路线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474720" cy="45720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用户角色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游客：浏览、搜索、查看公告</a:t>
            </a:r>
          </a:p>
          <a:p>
            <a:pPr algn="l">
              <a:spcBef>
                <a:spcPts val="800"/>
              </a:spcBef>
              <a:defRPr sz="1500" b="0">
                <a:solidFill>
                  <a:srgbClr val="222222"/>
                </a:solidFill>
              </a:defRPr>
            </a:pPr>
            <a:r>
              <a:t>注册用户：发帖、评论、点赞、通知</a:t>
            </a:r>
          </a:p>
          <a:p>
            <a:pPr algn="l">
              <a:spcBef>
                <a:spcPts val="800"/>
              </a:spcBef>
              <a:defRPr sz="1500" b="0">
                <a:solidFill>
                  <a:srgbClr val="222222"/>
                </a:solidFill>
              </a:defRPr>
            </a:pPr>
            <a:r>
              <a:t>权限：编辑/删除仅限作者本人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383280"/>
            <a:ext cx="3474720" cy="45720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八大功能模块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认证 · 帖子 · 评论 · 点赞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222222"/>
                </a:solidFill>
              </a:defRPr>
            </a:pPr>
            <a:r>
              <a:t>通知 · 搜索 · 媒体 · 网关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097280"/>
            <a:ext cx="34747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非功能性需求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性能：缓存命中毫秒级，未命中 &lt;500ms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222222"/>
                </a:solidFill>
              </a:defRPr>
            </a:pPr>
            <a:r>
              <a:t>安全：JWT 双令牌 + 登录失败锁定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222222"/>
                </a:solidFill>
              </a:defRPr>
            </a:pPr>
            <a:r>
              <a:t>可扩展：Nacos 注册 + 网关路由热接入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222222"/>
                </a:solidFill>
              </a:defRPr>
            </a:pPr>
            <a:r>
              <a:t>可维护：Docker Compose + Bash 启停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222222"/>
                </a:solidFill>
              </a:defRPr>
            </a:pPr>
            <a:r>
              <a:t>兼容：PC + 移动端双端适配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097280"/>
            <a:ext cx="3657600" cy="457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技术路线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73736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① 需求分析：用例建模 + 五维指标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2B7AE5"/>
                </a:solidFill>
              </a:defRPr>
            </a:pPr>
            <a:r>
              <a:t>→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222222"/>
                </a:solidFill>
              </a:defRPr>
            </a:pPr>
            <a:r>
              <a:t>② 架构设计：四层拆分 + ER图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2B7AE5"/>
                </a:solidFill>
              </a:defRPr>
            </a:pPr>
            <a:r>
              <a:t>→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222222"/>
                </a:solidFill>
              </a:defRPr>
            </a:pPr>
            <a:r>
              <a:t>③ 编码实现：分服务开发 + 双端前端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2B7AE5"/>
                </a:solidFill>
              </a:defRPr>
            </a:pPr>
            <a:r>
              <a:t>→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222222"/>
                </a:solidFill>
              </a:defRPr>
            </a:pPr>
            <a:r>
              <a:t>④ 测试验证：功能 + 缓存 + 并发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5C"/>
                </a:solidFill>
              </a:defRPr>
            </a:pPr>
            <a:r>
              <a:t>系统架构：四层微服务部署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0332720" cy="1005840"/>
          </a:xfrm>
          <a:prstGeom prst="rect">
            <a:avLst/>
          </a:prstGeom>
          <a:solidFill>
            <a:srgbClr val="E8F0FE"/>
          </a:solidFill>
          <a:ln w="19050">
            <a:solidFill>
              <a:srgbClr val="2B7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7AE5"/>
                </a:solidFill>
              </a:defRPr>
            </a:pPr>
            <a:r>
              <a:t>用户接入层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002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PC端 Vue3+Element Plus :5173  |  移动端 Vue3+Vant :5174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68880"/>
            <a:ext cx="10332720" cy="1005840"/>
          </a:xfrm>
          <a:prstGeom prst="rect">
            <a:avLst/>
          </a:prstGeom>
          <a:solidFill>
            <a:srgbClr val="D5E8D4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网关层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Spring Cloud Gateway :8080　JWT鉴权 · 路由转发 · CORS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49039"/>
            <a:ext cx="10332720" cy="1005840"/>
          </a:xfrm>
          <a:prstGeom prst="rect">
            <a:avLst/>
          </a:prstGeom>
          <a:solidFill>
            <a:srgbClr val="FFF2CC"/>
          </a:solidFill>
          <a:ln w="19050"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7947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6B656"/>
                </a:solidFill>
              </a:defRPr>
            </a:pPr>
            <a:r>
              <a:t>业务服务层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认证:8081  |  论坛:8082  |  通知:8083  |  媒体:8084  |  搜索:8085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029199"/>
            <a:ext cx="10332720" cy="1005840"/>
          </a:xfrm>
          <a:prstGeom prst="rect">
            <a:avLst/>
          </a:prstGeom>
          <a:solidFill>
            <a:srgbClr val="F0F0F0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749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6666"/>
                </a:solidFill>
              </a:defRPr>
            </a:pPr>
            <a:r>
              <a:t>基础设施层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40679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MySQL 8.4 :3306  |  Redis 7.4 :6379  |  Nacos 2.3.2 :8848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图 4-1 微服务分层部署与基础设施编排　　　※ 服务间调用：仅搜索服务通过 OpenFeign 调用论坛服务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5C"/>
                </a:solidFill>
              </a:defRPr>
            </a:pPr>
            <a:r>
              <a:t>数据库与接口设计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 张业务表 · 5 个实体 · 7 条关系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22222"/>
                </a:solidFill>
                <a:latin typeface="Consolas"/>
              </a:defRPr>
            </a:pPr>
            <a:r>
              <a:t>user_account ── 1:N ── forum_post (creates)</a:t>
            </a:r>
          </a:p>
          <a:p>
            <a:pPr algn="l">
              <a:spcBef>
                <a:spcPts val="10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forum_section ── 1:N ── forum_post (contains)</a:t>
            </a:r>
          </a:p>
          <a:p>
            <a:pPr algn="l">
              <a:spcBef>
                <a:spcPts val="10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forum_post ── 1:N ── post_comment (has)</a:t>
            </a:r>
          </a:p>
          <a:p>
            <a:pPr algn="l">
              <a:spcBef>
                <a:spcPts val="10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forum_post ── 1:N ── post_like (has)</a:t>
            </a:r>
          </a:p>
          <a:p>
            <a:pPr algn="l">
              <a:spcBef>
                <a:spcPts val="10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user_account ── M:N ── forum_post (点赞, via post_like)</a:t>
            </a:r>
          </a:p>
          <a:p>
            <a:pPr algn="l">
              <a:spcBef>
                <a:spcPts val="10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post_comment ── 1:N ── post_comment (自关联回复)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22 个 RESTful API 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22222"/>
                </a:solidFill>
              </a:defRPr>
            </a:pPr>
            <a:r>
              <a:t>认证服务：6 个（注册/登录/刷新/登出/个人信息/探测）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222222"/>
                </a:solidFill>
              </a:defRPr>
            </a:pPr>
            <a:r>
              <a:t>论坛服务：10 个（帖子CRUD + 评论 + 点赞 + 分区）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222222"/>
                </a:solidFill>
              </a:defRPr>
            </a:pPr>
            <a:r>
              <a:t>通知服务：3 个（首页摘要/列表/已读）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222222"/>
                </a:solidFill>
              </a:defRPr>
            </a:pPr>
            <a:r>
              <a:t>搜索服务：1 个（关键词 + 分区 + 分页）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222222"/>
                </a:solidFill>
              </a:defRPr>
            </a:pPr>
            <a:r>
              <a:t>媒体服务：2 个（首页摘要/推荐列表）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50292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技术选型：Spring Boot 3 + Spring Cloud Alibaba</a:t>
            </a:r>
            <a:br/>
            <a:r>
              <a:t>VS Django：缺少 Nacos/Gateway 原生集成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</a:defRPr>
            </a:pPr>
            <a:r>
              <a:t>核心实现：认证闭环、缓存策略与并发控制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JWT + Redis 认证闭环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22222"/>
                </a:solidFill>
                <a:latin typeface="Consolas"/>
              </a:defRPr>
            </a:pPr>
            <a:r>
              <a:t>login(username, password):</a:t>
            </a:r>
            <a:br/>
            <a:r>
              <a:t>  if locked(username): return ERROR</a:t>
            </a:r>
            <a:br/>
            <a:r>
              <a:t>  if !verify(password): </a:t>
            </a:r>
            <a:br/>
            <a:r>
              <a:t>    redis.incr(attempt); return ERROR</a:t>
            </a:r>
            <a:br/>
            <a:r>
              <a:t>  sid = UUID.random()</a:t>
            </a:r>
            <a:br/>
            <a:r>
              <a:t>  tokens = jwt.sign(uid, sid)</a:t>
            </a:r>
            <a:br/>
            <a:r>
              <a:t>  redis.set(sid -&gt; uid, ttl=7d)</a:t>
            </a:r>
            <a:br/>
            <a:r>
              <a:t>  return tokens</a:t>
            </a:r>
            <a:br/>
            <a:br/>
            <a:r>
              <a:t>logout(token):</a:t>
            </a:r>
            <a:br/>
            <a:r>
              <a:t>  redis.del(session_id)</a:t>
            </a:r>
            <a:br/>
            <a:r>
              <a:t>  // 令牌立即失效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097280"/>
            <a:ext cx="36576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Redis 缓存双路径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73736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22222"/>
                </a:solidFill>
              </a:defRPr>
            </a:pPr>
            <a:r>
              <a:t>读路径：</a:t>
            </a:r>
            <a:br/>
            <a:r>
              <a:t>  请求 → Redis 命中? → 返回</a:t>
            </a:r>
            <a:br/>
            <a:r>
              <a:t>       └─ 未命中 → MySQL → 写入Redis → 返回</a:t>
            </a:r>
            <a:br/>
            <a:br/>
            <a:r>
              <a:t>写路径：</a:t>
            </a:r>
            <a:br/>
            <a:r>
              <a:t>  发布/编辑/删除 → MySQL写入</a:t>
            </a:r>
            <a:br/>
            <a:r>
              <a:t>  → @CacheEvict 淘汰列表+详情缓存</a:t>
            </a:r>
            <a:br/>
            <a:br/>
            <a:r>
              <a:t>过期：列表 2min / 详情 5min / 默认 10min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1097280"/>
            <a:ext cx="3474720" cy="4572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并发点赞双重去重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73736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22222"/>
                </a:solidFill>
                <a:latin typeface="Consolas"/>
              </a:defRPr>
            </a:pPr>
            <a:r>
              <a:t>应用层：</a:t>
            </a:r>
            <a:br/>
            <a:r>
              <a:t>  if exists(postId, userId):</a:t>
            </a:r>
            <a:br/>
            <a:r>
              <a:t>    return "已点赞"</a:t>
            </a:r>
            <a:br/>
            <a:br/>
            <a:r>
              <a:t>数据库层：</a:t>
            </a:r>
            <a:br/>
            <a:r>
              <a:t>  UNIQUE(post_id, user_id)</a:t>
            </a:r>
            <a:br/>
            <a:r>
              <a:t>  → 并发插入抛出异常</a:t>
            </a:r>
            <a:br/>
            <a:r>
              <a:t>  → catch 返回提示</a:t>
            </a:r>
            <a:br/>
            <a:br/>
            <a:r>
              <a:t>乐观检查 + 悲观约束 = 零锁开销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开发工具链：Java 17 + Maven 3.9 + Spring Boot 3.2.5 + Spring Cloud Alibaba 2023  |  Vue 3.5 + Vite 5.4 + TypeScript 5.9  |  Docker Compose + Bash + Python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5C"/>
                </a:solidFill>
              </a:defRPr>
            </a:pPr>
            <a:r>
              <a:t>测试结果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功能测试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11 个端到端场景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222222"/>
                </a:solidFill>
              </a:defRPr>
            </a:pPr>
            <a:r>
              <a:t>22 个 API 接口全覆盖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222222"/>
                </a:solidFill>
              </a:defRPr>
            </a:pPr>
            <a:r>
              <a:t>通过率 100%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222222"/>
                </a:solidFill>
              </a:defRPr>
            </a:pPr>
            <a:r>
              <a:t>含 4 种异常路径验证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097280"/>
            <a:ext cx="36576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缓存基准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73736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222"/>
                </a:solidFill>
              </a:defRPr>
            </a:pPr>
            <a:r>
              <a:t>冷启动：59.12 ms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222222"/>
                </a:solidFill>
              </a:defRPr>
            </a:pPr>
            <a:r>
              <a:t>热缓存：14.98 ms (P95: 26.3ms)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222222"/>
                </a:solidFill>
              </a:defRPr>
            </a:pPr>
            <a:r>
              <a:t>性能提升 74.66%</a:t>
            </a:r>
          </a:p>
          <a:p>
            <a:pPr algn="l">
              <a:spcBef>
                <a:spcPts val="1000"/>
              </a:spcBef>
              <a:defRPr sz="1500" b="0">
                <a:solidFill>
                  <a:srgbClr val="222222"/>
                </a:solidFill>
              </a:defRPr>
            </a:pPr>
            <a:r>
              <a:t>热缓存请求 20 次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1097280"/>
            <a:ext cx="3474720" cy="457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并发负载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3736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2222"/>
                </a:solidFill>
                <a:latin typeface="Consolas"/>
              </a:defRPr>
            </a:pPr>
            <a:r>
              <a:t>并发   QPS      P95     成功率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  10    1186    10ms    100%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  50    1420    51ms    100%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 100    1392    97ms    99.95%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 500    1557   226ms    100%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222222"/>
                </a:solidFill>
                <a:latin typeface="Consolas"/>
              </a:defRPr>
            </a:pPr>
            <a:r>
              <a:t>1000    1450   366ms    99.99%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5029200" cy="457200"/>
          </a:xfrm>
          <a:prstGeom prst="rect">
            <a:avLst/>
          </a:prstGeom>
          <a:solidFill>
            <a:srgbClr val="2B7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三点核心结论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✔ 微服务架构在高校论坛场景可实际落地</a:t>
            </a:r>
          </a:p>
          <a:p>
            <a:pPr algn="l">
              <a:spcBef>
                <a:spcPts val="1400"/>
              </a:spcBef>
              <a:defRPr sz="1500" b="0">
                <a:solidFill>
                  <a:srgbClr val="FFFFFF"/>
                </a:solidFill>
              </a:defRPr>
            </a:pPr>
            <a:r>
              <a:t>✔ PC + 移动端双端适配方案可行</a:t>
            </a:r>
          </a:p>
          <a:p>
            <a:pPr algn="l">
              <a:spcBef>
                <a:spcPts val="1400"/>
              </a:spcBef>
              <a:defRPr sz="1500" b="0">
                <a:solidFill>
                  <a:srgbClr val="FFFFFF"/>
                </a:solidFill>
              </a:defRPr>
            </a:pPr>
            <a:r>
              <a:t>✔ 自动化测试可复现、结果可量化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不足与展望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△ 搜索服务采用内存过滤，后续引入 Elasticsearch</a:t>
            </a:r>
          </a:p>
          <a:p>
            <a:pPr algn="l">
              <a:spcBef>
                <a:spcPts val="1400"/>
              </a:spcBef>
              <a:defRPr sz="1500" b="0">
                <a:solidFill>
                  <a:srgbClr val="FFFFFF"/>
                </a:solidFill>
              </a:defRPr>
            </a:pPr>
            <a:r>
              <a:t>△ 未经云端生产验证，后续部署至 K8s 集群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以上是我的汇报，请各位老师批评指正。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BBDD"/>
                </a:solidFill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