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基于微服务架构的</a:t>
            </a:r>
            <a:br/>
            <a:r>
              <a:t>高校论坛系统设计与实现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</a:defRPr>
            </a:pPr>
            <a:r>
              <a:t>Design and Implementation of a University Forum System</a:t>
            </a:r>
            <a:br/>
            <a:r>
              <a:t>Based on Microservice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566160"/>
            <a:ext cx="3931920" cy="36576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384048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姓名：________　　学号：________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FFFFFF"/>
                </a:solidFill>
              </a:defRPr>
            </a:pPr>
            <a:r>
              <a:t>指导老师：汪红松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FFFFFF"/>
                </a:solidFill>
              </a:defRPr>
            </a:pPr>
            <a:r>
              <a:t>华南师范大学 · 软件学院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</a:defRPr>
            </a:pPr>
            <a:r>
              <a:t>“针对高校论坛单体架构扩展性不足、缺乏移动端适配和自动化测试的问题，设计并实现一套基于 Spring Cloud 的微服务论坛系统”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6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1" fill="hold">
                <p:stCondLst>
                  <p:cond delay="400"/>
                </p:stCondLst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1" fill="hold">
                <p:stCondLst>
                  <p:cond delay="800"/>
                </p:stCondLst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2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研究背景与创新点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现有高校论坛的痛点与本文的改进方向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研究背景与创新点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现有高校论坛的三个痛点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本文的三个创新点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❶ 单体架构耦合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局部修改需全局重新部署，模块间无法独立扩展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❷ 缺乏移动端适配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CNNIC 报告显示手机上网比例已达 99.6%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❸ 手工测试无法量化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功能验证依赖人工操作，缺少可复现的判定依据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① 微服务架构完整落地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Nacos + Gateway + OpenFeign 全套治理组件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② JWT + Redis 混合认证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令牌主动撤销 + 前端并发队列静默刷新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③ 三套自动化测试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功能回归 + 缓存基准 + 并发负载，自动生成报告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需求分析与目标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用户角色、功能模块与非功能指标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需求分析与技术路线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用户角色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游客（浏览/搜索/公告）和注册用户（发帖/评论/点赞/通知），编辑删除仅限作者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八大功能模块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认证 · 帖子 · 评论 · 点赞 · 通知 · 搜索 · 媒体推荐 · 网关访问控制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非功能性需求五维指标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性能（缓存命中&lt;ms）、安全（JWT+锁定）、可扩展、可维护、兼容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需求分析 → 架构设计 → 分服务编码 → 自动化测试验证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8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21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系统设计与架构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四层部署、数据库 ER 图与技术选型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四层微服务部署架构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0332720" cy="1005840"/>
          </a:xfrm>
          <a:prstGeom prst="rect">
            <a:avLst/>
          </a:prstGeom>
          <a:solidFill>
            <a:srgbClr val="E8F0FE"/>
          </a:solidFill>
          <a:ln w="25400">
            <a:solidFill>
              <a:srgbClr val="2B7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7AE5"/>
                </a:solidFill>
              </a:defRPr>
            </a:pPr>
            <a:r>
              <a:t>用户接入层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PC端 Vue3+Element Plus :5173  |  移动端 Vue3+Vant :5174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10332720" cy="1005840"/>
          </a:xfrm>
          <a:prstGeom prst="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</a:defRPr>
            </a:pPr>
            <a:r>
              <a:t>网关层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Spring Cloud Gateway :8080 — JWT鉴权 · 路由转发 · CORS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57600"/>
            <a:ext cx="10332720" cy="1005840"/>
          </a:xfrm>
          <a:prstGeom prst="rect">
            <a:avLst/>
          </a:prstGeom>
          <a:solidFill>
            <a:srgbClr val="FFF2CC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业务服务层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1480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认证:8081 | 论坛:8082 | 通知:8083 | 媒体:8084 | 搜索:8085 　　均注册至 Nacos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92040"/>
            <a:ext cx="10332720" cy="1005840"/>
          </a:xfrm>
          <a:prstGeom prst="rect">
            <a:avLst/>
          </a:prstGeom>
          <a:solidFill>
            <a:srgbClr val="F0F0F0"/>
          </a:solidFill>
          <a:ln w="254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8888"/>
                </a:solidFill>
              </a:defRPr>
            </a:pPr>
            <a:r>
              <a:t>基础设施层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MySQL 8.4 :3306 | Redis 7.4 :6379 | Nacos 2.3.2 :8848 　　Docker Compose 编排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4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8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12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数据库与接口设计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张表 · 5 实体 · 7 关系 (Chen 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22 个 RESTful API 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user → post / comment / like / notification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一对多关联，点赞为 M:N 通过 post_like 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section → post，comment 自关联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分区包含帖子，评论通过 parentCommentId 回复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技术选型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Spring Boot 3 + Spring Cloud Alibaba，对比 Django 缺少 Nacos/Gateway 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认证服务 6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注册/登录/刷新/登出/个人信息/探测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论坛服务 10 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帖子CRUD + 评论三操作 + 点赞 + 分区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辅助服务 6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通知 3 + 搜索 1 + 媒体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实现与关键技术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认证闭环、缓存策略、并发控制与工具链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核心实现与难点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JWT + Redis 认证闭环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登录签发双令牌，Redis 存储会话，登出删除会话即时失效，网关双重校验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Redis 缓存双路径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读命中直接返回，未命中查 MySQL 并回写；写操作通过 @CacheEvict 自动淘汰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并发点赞双重去重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应用层 exists 快速检查 + 数据库联合唯一约束兆底，零锁开销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前端静默刷新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响应拦截器处理 401，并发请求加入等待队列，避免多次触发刷新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开发工具链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Java 17 + Maven + Spring Boot 3.2.5 | Vue 3.5 + Vite 5.4 | Docker + Bash + Python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8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21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24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27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测试结果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功能回归、缓存基准、并发负载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测试结果概览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功能测试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11 个端到端场景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22 个 API 全覆盖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通过率 100%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含 4 种异常路径验证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097280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缓存基准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冷启动 59.12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热缓存 14.98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P95: 26.3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提升 74.66%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097280"/>
            <a:ext cx="3474720" cy="4572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并发负载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10→ QPS 1186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100→ QPS 1392, 99.95%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500→ QPS 1557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1000→ QPS 1450, 99.99%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核心结论、局限性与未来方向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三点核心结论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E84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不足与展望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微服务可落地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五个服务独立部署，验证了架构在中等规模 Web 应用中的可行性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双端适配可行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PC + 移动端共享 API 层，用户切换设备时体验一致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测试可复现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三套脚本覆盖功能/缓存/并发，结果可量化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  <a:r>
              <a:t>△ 搜索能力有限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内存过滤方案，后续可引入 Elasticsearch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  <a:r>
              <a:t>△ 未经云端验证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本地单机测试，后续可部署至 K8s 集群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谢谢各位老师！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BBDD"/>
                </a:solidFill>
              </a:defRPr>
            </a:pPr>
            <a:r>
              <a:t>请老师提问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8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1" fill="hold">
                <p:stCondLst>
                  <p:cond delay="600"/>
                </p:stCondLst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