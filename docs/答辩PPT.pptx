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1" r:id="rId22"/>
    <p:sldId id="272" r:id="rId23"/>
    <p:sldId id="261" r:id="rId12"/>
    <p:sldId id="262" r:id="rId13"/>
    <p:sldId id="263" r:id="rId14"/>
    <p:sldId id="264" r:id="rId15"/>
    <p:sldId id="273" r:id="rId24"/>
    <p:sldId id="265" r:id="rId16"/>
    <p:sldId id="274" r:id="rId25"/>
    <p:sldId id="266" r:id="rId17"/>
    <p:sldId id="267" r:id="rId18"/>
    <p:sldId id="275" r:id="rId26"/>
    <p:sldId id="276" r:id="rId27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12.xml"/><Relationship Id="rId25" Type="http://schemas.openxmlformats.org/officeDocument/2006/relationships/slide" Target="slides/slide14.xml"/><Relationship Id="rId26" Type="http://schemas.openxmlformats.org/officeDocument/2006/relationships/slide" Target="slides/slide18.xml"/><Relationship Id="rId27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基于微服务架构的</a:t>
            </a:r>
            <a:br/>
            <a:r>
              <a:t>高校论坛系统设计与实现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</a:defRPr>
            </a:pPr>
            <a:r>
              <a:t>Design and Implementation of a University Forum System</a:t>
            </a:r>
            <a:br/>
            <a:r>
              <a:t>Based on Microservice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566160"/>
            <a:ext cx="3931920" cy="36576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384048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姓名：________　　学号：________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FFFFFF"/>
                </a:solidFill>
              </a:defRPr>
            </a:pPr>
            <a:r>
              <a:t>指导老师：汪红松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FFFFFF"/>
                </a:solidFill>
              </a:defRPr>
            </a:pPr>
            <a:r>
              <a:t>华南师范大学 · 软件学院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</a:defRPr>
            </a:pPr>
            <a:r>
              <a:t>“针对高校论坛单体架构扩展性不足、缺乏移动端适配和自动化测试的问题，设计并实现一套基于 Spring Cloud 的微服务论坛系统”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6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1" fill="hold">
                <p:stCondLst>
                  <p:cond delay="400"/>
                </p:stCondLst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1" fill="hold">
                <p:stCondLst>
                  <p:cond delay="800"/>
                </p:stCondLst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2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研究背景与创新点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现有高校论坛的痛点与本文的改进方向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研究背景与创新点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现有高校论坛的三个痛点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本文的三个创新点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❶ 单体架构耦合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局部修改需全局重新部署，模块间无法独立扩展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❷ 缺乏移动端适配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CNNIC 报告显示手机上网比例已达 99.6%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❸ 手工测试无法量化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功能验证依赖人工操作，缺少可复现的判定依据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① 微服务架构完整落地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Nacos + Gateway + OpenFeign 全套治理组件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② JWT + Redis 混合认证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令牌主动撤销 + 前端并发队列静默刷新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③ 三套自动化测试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功能回归 + 缓存基准 + 并发负载，自动生成报告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需求分析与目标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用户角色、功能模块与非功能指标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需求分析与技术路线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用户角色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游客（浏览/搜索/公告）和注册用户（发帖/评论/点赞/通知），编辑删除仅限作者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八大功能模块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认证 · 帖子 · 评论 · 点赞 · 通知 · 搜索 · 媒体推荐 · 网关访问控制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非功能性需求五维指标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性能（缓存命中&lt;ms）、安全（JWT+锁定）、可扩展、可维护、兼容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需求分析 → 架构设计 → 分服务编码 → 自动化测试验证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66666"/>
                </a:solidFill>
              </a:defRPr>
            </a:pPr>
            <a:r>
              <a:t>设计思路：系统不区分学生/教师角色，所有注册用户享有相同权限，编辑和删除仅限内容作者。这一简化的权限模型降低了系统复杂度，对高校论坛这类用户角色差异不大的场景是合理的取舍。非功能性需求的五个维度直接对应了后续的架构决策和测试方案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8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21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功能性需求：八个模块的核心用例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用户认证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注册、登录、令牌刷新、登出四个接口形成闭环，登录失败 5 次锁定 10 分钟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帖子管理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发布、浏览、编辑、删除，列表支持分页和分区筛选，编辑/删除仅限作者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评论互动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支持二级回复结构（parent_comment_id），帖子作者可删除自己帖子下的任意评论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点赞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同一用户对同一帖子最多一次有效点赞，联合唯一约束 + 应用层双重去重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通知 / 搜索 / 媒体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通知支持已读标记，搜索跨服务调用论坛获取数据，媒体预置音乐/书籍推荐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非功能性需求：五个维度的量化指标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性能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缓存命中毫秒级响应，未命中 &lt;500ms；帖子列表缓存 2min、详情 5min、默认 10min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JWT 双令牌（access 24h + refresh 7d），HMAC-SHA 签名，登录失败 5 次锁定 600s，网关双重校验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可扩展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新模块注册 Nacos + 网关加一条路由即可接入，无需改动已有服务代码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可维护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Docker Compose 一键拉起基础设施，Bash 脚本按顺序启停 + 健康探测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兼容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PC 端 Element Plus + 移动端 Vant，两端共享 API 层和状态管理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系统设计与架构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四层部署、数据库 ER 图与技术选型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四层微服务部署架构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0332720" cy="1005840"/>
          </a:xfrm>
          <a:prstGeom prst="rect">
            <a:avLst/>
          </a:prstGeom>
          <a:solidFill>
            <a:srgbClr val="E8F0FE"/>
          </a:solidFill>
          <a:ln w="25400">
            <a:solidFill>
              <a:srgbClr val="2B7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7AE5"/>
                </a:solidFill>
              </a:defRPr>
            </a:pPr>
            <a:r>
              <a:t>用户接入层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PC端 Vue3+Element Plus :5173  |  移动端 Vue3+Vant :5174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10332720" cy="1005840"/>
          </a:xfrm>
          <a:prstGeom prst="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</a:defRPr>
            </a:pPr>
            <a:r>
              <a:t>网关层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Spring Cloud Gateway :8080 — JWT鉴权 · 路由转发 · CORS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57600"/>
            <a:ext cx="10332720" cy="1005840"/>
          </a:xfrm>
          <a:prstGeom prst="rect">
            <a:avLst/>
          </a:prstGeom>
          <a:solidFill>
            <a:srgbClr val="FFF2CC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业务服务层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1480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认证:8081 | 论坛:8082 | 通知:8083 | 媒体:8084 | 搜索:8085 　　均注册至 Nacos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92040"/>
            <a:ext cx="10332720" cy="1005840"/>
          </a:xfrm>
          <a:prstGeom prst="rect">
            <a:avLst/>
          </a:prstGeom>
          <a:solidFill>
            <a:srgbClr val="F0F0F0"/>
          </a:solidFill>
          <a:ln w="254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88888"/>
                </a:solidFill>
              </a:defRPr>
            </a:pPr>
            <a:r>
              <a:t>基础设施层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MySQL 8.4 :3306 | Redis 7.4 :6379 | Nacos 2.3.2 :8848 　　Docker Compose 编排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66666"/>
                </a:solidFill>
              </a:defRPr>
            </a:pPr>
            <a:r>
              <a:t>架构选择依据：单体架构下所有模块打包在同一进程中，局部改动需全局重新部署。微服务架构将业务拆分为独立服务，各服务通过 Nacos 按服务名寻址，实例增减对上游透明。共享 MySQL 是当前业务体量下的折中方案——避免过早引入分布式事务，保留未来按表拆库的能力。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4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8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12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数据库与接口设计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张表 · 5 实体 · 7 关系 (Chen 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22 个 RESTful API 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user → post / comment / like / notification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一对多关联，点赞为 M:N 通过 post_like 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section → post，comment 自关联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分区包含帖子，评论通过 parentCommentId 回复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7AE5"/>
                </a:solidFill>
              </a:defRPr>
            </a:pPr>
            <a:r>
              <a:t>技术选型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Spring Boot 3 + Spring Cloud Alibaba，对比 Django 缺少 Nacos/Gateway 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认证服务 6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注册/登录/刷新/登出/个人信息/探测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论坛服务 10 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帖子CRUD + 评论三操作 + 点赞 + 分区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辅助服务 6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通知 3 + 搜索 1 + 媒体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66666"/>
                </a:solidFill>
              </a:defRPr>
            </a:pPr>
            <a:r>
              <a:t>forum_post 表冗余存储了 author_name 和 section_name，严格来说违反第三范式，但帖子列表是访问最频繁的接口，冗余存储使列表查询在单表上完成，省去三表 JOIN 开销。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50292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66666"/>
                </a:solidFill>
              </a:defRPr>
            </a:pPr>
            <a:r>
              <a:t>全部接口遵循 RESTful 风格，GET/POST/PUT/DELETE 对应读取/创建/更新/删除。网关维护公开接口白名单，白名单外的写操作接口要求携带有效 JWT 令牌。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实现与关键技术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认证闭环、缓存策略、并发控制与工具链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安全设计：JWT + Redis + 网关三道防线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第一道：密码加密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BCrypt 哈希存储，原始密码不在任何环节以明文保留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第二道：令牌签发与会话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登录成功后签发 access + refresh 双令牌，Redis 存储 sessionId→userId 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第三道：网关双重校验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JwtRelayFilter 先验 JWT 签名再查 Redis 会话，通过后透传 userId/username 到下游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登录失败防护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Redis 原子计数，连续 5 次失败锁定 600 秒，防暴力破解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登出即时失效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删除 Redis 会话记录，已签发的令牌即使未过期也会在网关层被拒绝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核心实现与难点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JWT + Redis 认证闭环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登录签发双令牌，Redis 存储会话，登出删除会话即时失效，网关双重校验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Redis 缓存双路径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读命中直接返回，未命中查 MySQL 并回写；写操作通过 @CacheEvict 自动淘汰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并发点赞双重去重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应用层 exists 快速检查 + 数据库联合唯一约束兆底，零锁开销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前端静默刷新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响应拦截器处理 401，并发请求加入等待队列，避免多次触发刷新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7AE5"/>
                </a:solidFill>
              </a:defRPr>
            </a:pPr>
            <a:r>
              <a:t>开发工具链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Java 17 + Maven + Spring Boot 3.2.5 | Vue 3.5 + Vite 5.4 | Docker + Bash + Python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486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66666"/>
                </a:solidFill>
              </a:defRPr>
            </a:pPr>
            <a:r>
              <a:t>为什么 JWT + Redis 而非纯 JWT？纯 JWT 一经签发无法主动撤销，登出时令牌仍然有效。Redis 补充会话状态后，删除会话记录即可使令牌立即失效，兼顾了无状态校验的性能和主动撤销的能力。缓存策略采用写时淘汰，帖子列表缓存 2 分钟、详情缓存 5 分钟，冷启动 59ms 降至热缓存 15ms，提升 74.66%。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8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21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4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24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27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前端双端实现：共享底层、各自适配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PC 端（Element Plus）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左右分栏布局，左侧帖子列表 + 搜索 + 分区筛选，右侧通知摘要 + 媒体推荐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移动端（Vant）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纵向堆叠布局适配小屏，底部固定导航，触屏交互优化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共享层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Axios 请求层 + Pinia 状态管理 + Vue Router 路由守卫，修改一处接口两端同步生效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静默刷新机制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响应拦截器处理 401，并发请求加入等待队列，刷新成功后统一释放重试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路由守卫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发帖页、通知页、个人中心设置导航守卫，未登录自动重定向到登录页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测试结果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功能回归、缓存基准、并发负载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测试结果概览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功能测试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11 个端到端场景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22 个 API 全覆盖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通过率 100%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含 4 种异常路径验证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097280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缓存基准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冷启动 59.12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热缓存 14.98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P95: 26.3 ms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提升 74.66%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097280"/>
            <a:ext cx="3474720" cy="4572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并发负载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373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10→ QPS 1186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100→ QPS 1392, 99.95%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500→ QPS 1557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222222"/>
                </a:solidFill>
              </a:defRPr>
            </a:pPr>
            <a:r>
              <a:t>1000→ QPS 1450, 99.99%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66666"/>
                </a:solidFill>
              </a:defRPr>
            </a:pPr>
            <a:r>
              <a:t>测试意义：功能测试的 11 个场景覆盖了正常业务流程和 4 种异常路径（无令牌拦截、越权操作、并发重复点赞、登出后会话失效），验证了第三章需求分析和第四章安全设计中定义的行为。缓存基准测试量化了 Redis 对帖子列表接口的改善幅度。并发负载测试在 1000 用户下 QPS 仍保持 1450+，成功率 99.99%，说明系统在单机条件下已具备一定的承载能力。所有测试在本地单机完成，与生产环境存在差异，这一局限已在论文中说明。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4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3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6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9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4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12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5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600" b="1">
                <a:solidFill>
                  <a:srgbClr val="3D8EE8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</a:defRPr>
            </a:pPr>
            <a:r>
              <a:t>核心结论、局限性与未来方向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657600" cy="54864"/>
          </a:xfrm>
          <a:prstGeom prst="rect">
            <a:avLst/>
          </a:prstGeom>
          <a:solidFill>
            <a:srgbClr val="2B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功能测试：11 个场景的覆盖范围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正常业务流程（场景 1–5）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分区查询 → 注册登录 → 发帖评论搜索 → 通知媒体首页 → 个人通知已读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异常路径验证（场景 6–9）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无令牌发帖→4010 | 越权删帖→4031 | 并发重复点赞→0+4091 | 登出后访问→4010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令牌生命周期（场景 10–11）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刷新令牌获取新令牌对 | 令牌过期后访问受保护接口被拦截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API 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全部 22 个接口至少被调用一次：认证 6 + 论坛 10 + 通知 3 + 搜索 1 + 媒体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7AE5"/>
                </a:solidFill>
              </a:defRPr>
            </a:pPr>
            <a:r>
              <a:t>测试方法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Python 脚本驱动的黑盒端到端测试，比对 HTTP 状态码和业务码，自动生成 Markdown 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性能测试：缓存效果与并发承载能力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缓存基准测试原理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先发一次冷启动请求（穿透到 MySQL），再发 20 次热缓存请求（命中 Redis），对比响应时间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缓存效果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0487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冷启动 59.12ms → 热缓存 14.98ms，P95 为 26.3ms，性能提升 74.66%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并发负载测试原理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ThreadPoolExecutor 创建线程池，每个虚拟用户发 20 次 GET 请求，分五档逐步加压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并发结果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10↝1186 QPS | 100↝1392 QPS, 99.95% | 500↝1557 QPS | 1000↝1450 QPS, 99.99%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局限性说明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852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本地单机测试，绝对数值与生产环境有差异，但缓存提升比例和并发成功率具有参考价值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三点核心结论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E84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不足与展望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微服务可落地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五个服务独立部署，验证了架构在中等规模 Web 应用中的可行性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双端适配可行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PC + 移动端共享 API 层，用户切换设备时体验一致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</a:defRPr>
            </a:pPr>
            <a:r>
              <a:t>✔ 测试可复现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三套脚本覆盖功能/缓存/并发，结果可量化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  <a:r>
              <a:t>△ 搜索能力有限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内存过滤方案，后续可引入 Elasticsearch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  <a:r>
              <a:t>△ 未经云端验证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  <a:r>
              <a:t>本地单机测试，后续可部署至 K8s 集群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</a:defRPr>
            </a:p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3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200"/>
                </p:stCondLst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3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400"/>
                </p:stCond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3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600"/>
                </p:stCondLst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3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0"/>
                </p:stCondLst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3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1" fill="hold">
                <p:stCondLst>
                  <p:cond delay="1000"/>
                </p:stCondLst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3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1200"/>
                </p:stCondLst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3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400"/>
                </p:stCondLst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3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1600"/>
                </p:stCondLst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3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1800"/>
                </p:stCondLst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3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2000"/>
                </p:stCondLst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3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2200"/>
                </p:stCondLst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3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谢谢各位老师！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BBDD"/>
                </a:solidFill>
              </a:defRPr>
            </a:pPr>
            <a:r>
              <a:t>请老师提问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8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21" fill="hold">
                <p:stCondLst>
                  <p:cond delay="600"/>
                </p:stCondLst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presetID="10" presetClass="entr" presetSubtype="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